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a1f8533a384375" /><Relationship Type="http://schemas.openxmlformats.org/officeDocument/2006/relationships/extended-properties" Target="/docProps/app.xml" Id="R5f009ecbbb2f4781" /><Relationship Type="http://schemas.openxmlformats.org/officeDocument/2006/relationships/officeDocument" Target="/ppt/presentation.xml" Id="R71b81a8c56fe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9e3ad67204177"/>
  </p:sldMasterIdLst>
  <p:notesMasterIdLst>
    <p:notesMasterId xmlns:r="http://schemas.openxmlformats.org/officeDocument/2006/relationships" r:id="R1ff6732a7dbe40c0"/>
  </p:notesMasterIdLst>
  <p:sldIdLst>
    <p:sldId xmlns:r="http://schemas.openxmlformats.org/officeDocument/2006/relationships" id="256" r:id="R460ef2f7ba0848d5"/>
    <p:sldId xmlns:r="http://schemas.openxmlformats.org/officeDocument/2006/relationships" id="257" r:id="Reb3f63fc4d004fc8"/>
    <p:sldId xmlns:r="http://schemas.openxmlformats.org/officeDocument/2006/relationships" id="258" r:id="R2823e899d9fc45b3"/>
    <p:sldId xmlns:r="http://schemas.openxmlformats.org/officeDocument/2006/relationships" id="259" r:id="R192341faab4e44c3"/>
    <p:sldId xmlns:r="http://schemas.openxmlformats.org/officeDocument/2006/relationships" id="260" r:id="R60c293f19b8f482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b8dbd684548e7" /><Relationship Type="http://schemas.openxmlformats.org/officeDocument/2006/relationships/slideMaster" Target="/ppt/slideMasters/slideMaster1.xml" Id="Rc869e3ad67204177" /><Relationship Type="http://schemas.openxmlformats.org/officeDocument/2006/relationships/notesMaster" Target="/ppt/notesMasters/notesMaster1.xml" Id="R1ff6732a7dbe40c0" /><Relationship Type="http://schemas.openxmlformats.org/officeDocument/2006/relationships/presProps" Target="/ppt/presProps.xml" Id="R7ea07e4d1f5c4a6b" /><Relationship Type="http://schemas.openxmlformats.org/officeDocument/2006/relationships/tableStyles" Target="/ppt/tableStyles.xml" Id="Rb20dc31799ea4621" /><Relationship Type="http://schemas.openxmlformats.org/officeDocument/2006/relationships/slide" Target="/ppt/slides/slide1.xml" Id="R460ef2f7ba0848d5" /><Relationship Type="http://schemas.openxmlformats.org/officeDocument/2006/relationships/slide" Target="/ppt/slides/slide2.xml" Id="Reb3f63fc4d004fc8" /><Relationship Type="http://schemas.openxmlformats.org/officeDocument/2006/relationships/slide" Target="/ppt/slides/slide3.xml" Id="R2823e899d9fc45b3" /><Relationship Type="http://schemas.openxmlformats.org/officeDocument/2006/relationships/slide" Target="/ppt/slides/slide4.xml" Id="R192341faab4e44c3" /><Relationship Type="http://schemas.openxmlformats.org/officeDocument/2006/relationships/slide" Target="/ppt/slides/slide5.xml" Id="R60c293f19b8f48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a7d0f8237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0c7af411cb418d" /><Relationship Type="http://schemas.openxmlformats.org/officeDocument/2006/relationships/notesMaster" Target="/ppt/notesMasters/notesMaster1.xml" Id="R8fe2bf80949a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38ea4d2ae477c" /><Relationship Type="http://schemas.openxmlformats.org/officeDocument/2006/relationships/notesMaster" Target="/ppt/notesMasters/notesMaster1.xml" Id="Rfa86e1760ae8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344a6f0504de9" /><Relationship Type="http://schemas.openxmlformats.org/officeDocument/2006/relationships/notesMaster" Target="/ppt/notesMasters/notesMaster1.xml" Id="R0ac455668e444e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5da220693e4585" /><Relationship Type="http://schemas.openxmlformats.org/officeDocument/2006/relationships/notesMaster" Target="/ppt/notesMasters/notesMaster1.xml" Id="R80f10aaa2c74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08100544344e5a" /><Relationship Type="http://schemas.openxmlformats.org/officeDocument/2006/relationships/notesMaster" Target="/ppt/notesMasters/notesMaster1.xml" Id="Rdda822d90bf24a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text: Illustrative experimental aircraft climbing through a luminous vapor cone above clouds, with the title Agent Flight Test. The generated aircraft scene is illustrative, not a record of a real aircraft or HEAV3NS flight. Cover wording follows the project's positioning and describes the suite as harness conformance.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text: Illustrative aircraft gliding above clouds at sunset. The slide explains the fighter-jet and cargo-plane comparison as mission fit, not a ranking, and states that the sound-barrier phrase is aspirational rather than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text: A dark runway with red and cyan lights accompanies five rows naming FT-01 through FT-05: context readback, edit and reread, invalid-argument recovery, HTTP 503 retry, and in-flight cancellation. All scenario descriptions follow the Agent Flight Test v0.3.0 methodology.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text: An illustrative flight-test recorder and cable sit on a lab bench. The slide defines pass/fail and explains that the suite uses the real engine and scheduler, fresh scenario state, scripted local responses, and a versioned report. Scope limits are visible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text: An illustrative aircraft waits at the far end of a runway at sunrise. The slide shows npm ci followed by npm run benchmark:flight, notes the no-key local run, and links to the Agent Flight Test directory in CardSorting/HEAV3NS.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58dddded24c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89f49960ce4509" /><Relationship Type="http://schemas.openxmlformats.org/officeDocument/2006/relationships/slideLayout" Target="/ppt/slideLayouts/slideLayout1.xml" Id="R1cd40d11d3174c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40d11d3174c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e5189d05b4825" /><Relationship Type="http://schemas.openxmlformats.org/officeDocument/2006/relationships/image" Target="/ppt/media/image.png" Id="R2a7f3a56c3ff4270" /><Relationship Type="http://schemas.openxmlformats.org/officeDocument/2006/relationships/notesSlide" Target="/ppt/notesSlides/notesSlide1.xml" Id="Rdbce67d078ef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16a4cc274b10" /><Relationship Type="http://schemas.openxmlformats.org/officeDocument/2006/relationships/image" Target="/ppt/media/image2.png" Id="Radd48ae30e8e4130" /><Relationship Type="http://schemas.openxmlformats.org/officeDocument/2006/relationships/notesSlide" Target="/ppt/notesSlides/notesSlide2.xml" Id="R43c690059db5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7fd9899384a32" /><Relationship Type="http://schemas.openxmlformats.org/officeDocument/2006/relationships/image" Target="/ppt/media/image3.png" Id="R2d6768d9896c458b" /><Relationship Type="http://schemas.openxmlformats.org/officeDocument/2006/relationships/notesSlide" Target="/ppt/notesSlides/notesSlide3.xml" Id="R4990990bc0fc4f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77553e9264554" /><Relationship Type="http://schemas.openxmlformats.org/officeDocument/2006/relationships/image" Target="/ppt/media/image4.png" Id="R16a9cf265fe147fb" /><Relationship Type="http://schemas.openxmlformats.org/officeDocument/2006/relationships/notesSlide" Target="/ppt/notesSlides/notesSlide4.xml" Id="Rfed1fac159db45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1915625a4bb1" /><Relationship Type="http://schemas.openxmlformats.org/officeDocument/2006/relationships/image" Target="/ppt/media/image5.png" Id="R0351197a88684365" /><Relationship Type="http://schemas.openxmlformats.org/officeDocument/2006/relationships/notesSlide" Target="/ppt/notesSlides/notesSlide5.xml" Id="R3025dd4bc323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f3a56c3ff427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8D5235EE-FB6E-4E66-B53F-A262E18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CA0F573D-BC74-4877-9B7E-E8E070A9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HEAV3NS  /  AGENT FLIGHT TEST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929836-3A0C-4791-9818-B790181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39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01 / 05</a:t>
            </a:r>
          </a:p>
        </p:txBody>
      </p:sp>
      <p:sp>
        <p:nvSpPr>
          <p:cNvPr id="5" name="cover-red-rule">
            <a:extLst xmlns:a="http://schemas.openxmlformats.org/drawingml/2006/main">
              <a:ext uri="{FF2B5EF4-FFF2-40B4-BE49-F238E27FC236}">
                <a16:creationId xmlns:a16="http://schemas.microsoft.com/office/drawing/2014/main" id="{DE68E1BE-3ABE-413B-B517-46604E0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3356DB3-7F9A-4998-8F69-3DEBC2A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OPEN-SOURCE  /  HARNESS CONFORMANCE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DC4CA0-73AE-454A-8A06-B43F60C1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FLIGHT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8" name="cover-value">
            <a:extLst xmlns:a="http://schemas.openxmlformats.org/drawingml/2006/main">
              <a:ext uri="{FF2B5EF4-FFF2-40B4-BE49-F238E27FC236}">
                <a16:creationId xmlns:a16="http://schemas.microsoft.com/office/drawing/2014/main" id="{9B1D8587-4997-42FB-8EBE-2728584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The fighter jet for focused coding work.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3208885-BF3E-4E3C-8102-1C75E45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8190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A reproducible test of the HEAV3NS agent harness.</a:t>
            </a:r>
          </a:p>
        </p:txBody>
      </p:sp>
      <p:sp>
        <p:nvSpPr>
          <p:cNvPr id="10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82D23EDF-3359-4AF9-9CEC-23C0075E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9A8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9A8B9"/>
                </a:solidFill>
                <a:latin typeface="Helvetica Neue"/>
                <a:ea typeface="Helvetica Neue"/>
                <a:cs typeface="Helvetica Neue"/>
              </a:rPr>
              <a:t>AGENT FLIGHT TEST  v0.3.0</a:t>
            </a:r>
          </a:p>
        </p:txBody>
      </p:sp>
    </p:spTree>
    <p:extLst>
      <p:ext uri="{BB962C8B-B14F-4D97-AF65-F5344CB8AC3E}">
        <p14:creationId xmlns:p14="http://schemas.microsoft.com/office/powerpoint/2010/main" val="1316017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48ae30e8e413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image-readability-overlay">
            <a:extLst xmlns:a="http://schemas.openxmlformats.org/drawingml/2006/main">
              <a:ext uri="{FF2B5EF4-FFF2-40B4-BE49-F238E27FC236}">
                <a16:creationId xmlns:a16="http://schemas.microsoft.com/office/drawing/2014/main" id="{86352088-1FFB-4BB0-8045-92AE227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2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145B15C7-27B5-4FC8-A951-52DD24E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F6D60864-659F-4E2C-A9DC-75369D25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HEAV3NS  /  AGENT FLIGHT TEST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CE85BF-C88A-4501-AD9A-F67B81F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39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02 / 05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1C2871-9711-449F-9E92-F6844B8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Every agent has a flight profile</a:t>
            </a:r>
          </a:p>
        </p:txBody>
      </p:sp>
      <p:sp>
        <p:nvSpPr>
          <p:cNvPr id="7" name="mission-metaphor">
            <a:extLst xmlns:a="http://schemas.openxmlformats.org/drawingml/2006/main">
              <a:ext uri="{FF2B5EF4-FFF2-40B4-BE49-F238E27FC236}">
                <a16:creationId xmlns:a16="http://schemas.microsoft.com/office/drawing/2014/main" id="{1310D133-EFC6-4CBD-A7EA-B71AE8DA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Cargo planes carry the operation.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Fighter jets are built for tight turns.</a:t>
            </a:r>
          </a:p>
        </p:txBody>
      </p:sp>
      <p:sp>
        <p:nvSpPr>
          <p:cNvPr id="8" name="mission-accent">
            <a:extLst xmlns:a="http://schemas.openxmlformats.org/drawingml/2006/main">
              <a:ext uri="{FF2B5EF4-FFF2-40B4-BE49-F238E27FC236}">
                <a16:creationId xmlns:a16="http://schemas.microsoft.com/office/drawing/2014/main" id="{EF80EA5A-DB1A-40BA-9B91-5DE8211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9" name="mission-copy">
            <a:extLst xmlns:a="http://schemas.openxmlformats.org/drawingml/2006/main">
              <a:ext uri="{FF2B5EF4-FFF2-40B4-BE49-F238E27FC236}">
                <a16:creationId xmlns:a16="http://schemas.microsoft.com/office/drawing/2014/main" id="{A354B4A1-CF54-4B0A-8408-5FB680B8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24375"/>
            <a:ext cx="4143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HEAV3NS is designed for focused coding work: inspect context, make a scoped change, verify the result, then return control to the developer.</a:t>
            </a:r>
          </a:p>
        </p:txBody>
      </p:sp>
      <p:sp>
        <p:nvSpPr>
          <p:cNvPr id="10" name="metaphor-clarifier">
            <a:extLst xmlns:a="http://schemas.openxmlformats.org/drawingml/2006/main">
              <a:ext uri="{FF2B5EF4-FFF2-40B4-BE49-F238E27FC236}">
                <a16:creationId xmlns:a16="http://schemas.microsoft.com/office/drawing/2014/main" id="{071DBB13-A278-4808-932C-D4904A1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913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The metaphor is about mission fit, not rank.</a:t>
            </a:r>
          </a:p>
        </p:txBody>
      </p:sp>
      <p:sp>
        <p:nvSpPr>
          <p:cNvPr id="11" name="sound-barrier-rule">
            <a:extLst xmlns:a="http://schemas.openxmlformats.org/drawingml/2006/main">
              <a:ext uri="{FF2B5EF4-FFF2-40B4-BE49-F238E27FC236}">
                <a16:creationId xmlns:a16="http://schemas.microsoft.com/office/drawing/2014/main" id="{843DF37C-753B-432E-A7EC-093C8DA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620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2" name="sound-barrier-copy">
            <a:extLst xmlns:a="http://schemas.openxmlformats.org/drawingml/2006/main">
              <a:ext uri="{FF2B5EF4-FFF2-40B4-BE49-F238E27FC236}">
                <a16:creationId xmlns:a16="http://schemas.microsoft.com/office/drawing/2014/main" id="{97799AE5-1D1C-48E6-AAA7-865EBBA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24875"/>
            <a:ext cx="771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“Break the sound barrier” is the ambition: shorten the path from intent to evidence. It is not a measured speed claim.</a:t>
            </a:r>
          </a:p>
        </p:txBody>
      </p:sp>
    </p:spTree>
    <p:extLst>
      <p:ext uri="{BB962C8B-B14F-4D97-AF65-F5344CB8AC3E}">
        <p14:creationId xmlns:p14="http://schemas.microsoft.com/office/powerpoint/2010/main" val="21303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768d9896c45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194D2B38-9020-4A14-B60D-57CAFE0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CB76A6A-C8A2-4938-9B5C-5B52518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HEAV3NS  /  AGENT FLIGHT TEST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101B44-F258-4884-A1FE-A0082BB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39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03 / 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B1B509-F67A-47F8-AB47-E355010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Five harness contracts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52DED9-0DAF-455B-B523-C30F459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Scripted integration scenarios. Strict pass/fail oracles.</a:t>
            </a:r>
          </a:p>
        </p:txBody>
      </p:sp>
      <p:sp>
        <p:nvSpPr>
          <p:cNvPr id="7" name="scenario-accent-0">
            <a:extLst xmlns:a="http://schemas.openxmlformats.org/drawingml/2006/main">
              <a:ext uri="{FF2B5EF4-FFF2-40B4-BE49-F238E27FC236}">
                <a16:creationId xmlns:a16="http://schemas.microsoft.com/office/drawing/2014/main" id="{ABC42607-3B32-4F89-878E-F31EC95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8" name="scenario-id-0">
            <a:extLst xmlns:a="http://schemas.openxmlformats.org/drawingml/2006/main">
              <a:ext uri="{FF2B5EF4-FFF2-40B4-BE49-F238E27FC236}">
                <a16:creationId xmlns:a16="http://schemas.microsoft.com/office/drawing/2014/main" id="{A4576631-FA83-434E-9FF2-6F3D7B4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FT-01</a:t>
            </a:r>
          </a:p>
        </p:txBody>
      </p:sp>
      <p:sp>
        <p:nvSpPr>
          <p:cNvPr id="9" name="scenario-label-0">
            <a:extLst xmlns:a="http://schemas.openxmlformats.org/drawingml/2006/main">
              <a:ext uri="{FF2B5EF4-FFF2-40B4-BE49-F238E27FC236}">
                <a16:creationId xmlns:a16="http://schemas.microsoft.com/office/drawing/2014/main" id="{B3858961-A397-4006-A57B-C6D9CEFB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146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CONTEXT READBACK</a:t>
            </a:r>
          </a:p>
        </p:txBody>
      </p:sp>
      <p:sp>
        <p:nvSpPr>
          <p:cNvPr id="10" name="scenario-detail-0">
            <a:extLst xmlns:a="http://schemas.openxmlformats.org/drawingml/2006/main">
              <a:ext uri="{FF2B5EF4-FFF2-40B4-BE49-F238E27FC236}">
                <a16:creationId xmlns:a16="http://schemas.microsoft.com/office/drawing/2014/main" id="{575589AA-A197-461A-891A-C68C96FC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052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File content reaches the next decision and final answer.</a:t>
            </a:r>
          </a:p>
        </p:txBody>
      </p:sp>
      <p:sp>
        <p:nvSpPr>
          <p:cNvPr id="11" name="scenario-rule-0">
            <a:extLst xmlns:a="http://schemas.openxmlformats.org/drawingml/2006/main">
              <a:ext uri="{FF2B5EF4-FFF2-40B4-BE49-F238E27FC236}">
                <a16:creationId xmlns:a16="http://schemas.microsoft.com/office/drawing/2014/main" id="{1C7DFB6B-149E-4989-9563-B9C3DA2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8096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2" name="scenario-accent-1">
            <a:extLst xmlns:a="http://schemas.openxmlformats.org/drawingml/2006/main">
              <a:ext uri="{FF2B5EF4-FFF2-40B4-BE49-F238E27FC236}">
                <a16:creationId xmlns:a16="http://schemas.microsoft.com/office/drawing/2014/main" id="{EC91D26A-99B0-4BB2-A8A7-E3AEB37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13" name="scenario-id-1">
            <a:extLst xmlns:a="http://schemas.openxmlformats.org/drawingml/2006/main">
              <a:ext uri="{FF2B5EF4-FFF2-40B4-BE49-F238E27FC236}">
                <a16:creationId xmlns:a16="http://schemas.microsoft.com/office/drawing/2014/main" id="{B1D43E6D-73A7-4186-A9CC-20235CA1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FT-02</a:t>
            </a:r>
          </a:p>
        </p:txBody>
      </p:sp>
      <p:sp>
        <p:nvSpPr>
          <p:cNvPr id="14" name="scenario-label-1">
            <a:extLst xmlns:a="http://schemas.openxmlformats.org/drawingml/2006/main">
              <a:ext uri="{FF2B5EF4-FFF2-40B4-BE49-F238E27FC236}">
                <a16:creationId xmlns:a16="http://schemas.microsoft.com/office/drawing/2014/main" id="{3D93AB21-5B65-4DE4-A032-261757C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862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EDIT + REREAD</a:t>
            </a:r>
          </a:p>
        </p:txBody>
      </p:sp>
      <p:sp>
        <p:nvSpPr>
          <p:cNvPr id="15" name="scenario-detail-1">
            <a:extLst xmlns:a="http://schemas.openxmlformats.org/drawingml/2006/main">
              <a:ext uri="{FF2B5EF4-FFF2-40B4-BE49-F238E27FC236}">
                <a16:creationId xmlns:a16="http://schemas.microsoft.com/office/drawing/2014/main" id="{63295A0A-2F3B-4FC0-9FE4-DA149F31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Exact-block repair persists and is verified from disk.</a:t>
            </a:r>
          </a:p>
        </p:txBody>
      </p:sp>
      <p:sp>
        <p:nvSpPr>
          <p:cNvPr id="16" name="scenario-rule-1">
            <a:extLst xmlns:a="http://schemas.openxmlformats.org/drawingml/2006/main">
              <a:ext uri="{FF2B5EF4-FFF2-40B4-BE49-F238E27FC236}">
                <a16:creationId xmlns:a16="http://schemas.microsoft.com/office/drawing/2014/main" id="{A0F10D19-F500-4EBE-AF2B-7C758C2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8096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7" name="scenario-accent-2">
            <a:extLst xmlns:a="http://schemas.openxmlformats.org/drawingml/2006/main">
              <a:ext uri="{FF2B5EF4-FFF2-40B4-BE49-F238E27FC236}">
                <a16:creationId xmlns:a16="http://schemas.microsoft.com/office/drawing/2014/main" id="{267A77C5-220C-43FB-ABCD-A9BEED6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18" name="scenario-id-2">
            <a:extLst xmlns:a="http://schemas.openxmlformats.org/drawingml/2006/main">
              <a:ext uri="{FF2B5EF4-FFF2-40B4-BE49-F238E27FC236}">
                <a16:creationId xmlns:a16="http://schemas.microsoft.com/office/drawing/2014/main" id="{446340AD-BCD4-4592-9BC1-909A2963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FT-03</a:t>
            </a:r>
          </a:p>
        </p:txBody>
      </p:sp>
      <p:sp>
        <p:nvSpPr>
          <p:cNvPr id="19" name="scenario-label-2">
            <a:extLst xmlns:a="http://schemas.openxmlformats.org/drawingml/2006/main">
              <a:ext uri="{FF2B5EF4-FFF2-40B4-BE49-F238E27FC236}">
                <a16:creationId xmlns:a16="http://schemas.microsoft.com/office/drawing/2014/main" id="{451FC828-E6E2-440C-9DDD-54F05D7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INVALID-ARGUMENT RECOVERY</a:t>
            </a:r>
          </a:p>
        </p:txBody>
      </p:sp>
      <p:sp>
        <p:nvSpPr>
          <p:cNvPr id="20" name="scenario-detail-2">
            <a:extLst xmlns:a="http://schemas.openxmlformats.org/drawingml/2006/main">
              <a:ext uri="{FF2B5EF4-FFF2-40B4-BE49-F238E27FC236}">
                <a16:creationId xmlns:a16="http://schemas.microsoft.com/office/drawing/2014/main" id="{38CB7547-5CA7-4CCF-BB3E-354F26D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484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Bad arguments fail; a later valid read completes.</a:t>
            </a:r>
          </a:p>
        </p:txBody>
      </p:sp>
      <p:sp>
        <p:nvSpPr>
          <p:cNvPr id="21" name="scenario-rule-2">
            <a:extLst xmlns:a="http://schemas.openxmlformats.org/drawingml/2006/main">
              <a:ext uri="{FF2B5EF4-FFF2-40B4-BE49-F238E27FC236}">
                <a16:creationId xmlns:a16="http://schemas.microsoft.com/office/drawing/2014/main" id="{5134E055-B61F-4F42-8E6F-373601ED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72300"/>
            <a:ext cx="8096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22" name="scenario-accent-3">
            <a:extLst xmlns:a="http://schemas.openxmlformats.org/drawingml/2006/main">
              <a:ext uri="{FF2B5EF4-FFF2-40B4-BE49-F238E27FC236}">
                <a16:creationId xmlns:a16="http://schemas.microsoft.com/office/drawing/2014/main" id="{D0AC0345-DDEA-4674-98D6-E573B46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23" name="scenario-id-3">
            <a:extLst xmlns:a="http://schemas.openxmlformats.org/drawingml/2006/main">
              <a:ext uri="{FF2B5EF4-FFF2-40B4-BE49-F238E27FC236}">
                <a16:creationId xmlns:a16="http://schemas.microsoft.com/office/drawing/2014/main" id="{965C90DC-7E36-4391-96AD-2FB72BFE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239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FT-04</a:t>
            </a:r>
          </a:p>
        </p:txBody>
      </p:sp>
      <p:sp>
        <p:nvSpPr>
          <p:cNvPr id="24" name="scenario-label-3">
            <a:extLst xmlns:a="http://schemas.openxmlformats.org/drawingml/2006/main">
              <a:ext uri="{FF2B5EF4-FFF2-40B4-BE49-F238E27FC236}">
                <a16:creationId xmlns:a16="http://schemas.microsoft.com/office/drawing/2014/main" id="{33EE1601-B6A6-47A2-8591-2C22F45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2294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HTTP 503 RETRY</a:t>
            </a:r>
          </a:p>
        </p:txBody>
      </p:sp>
      <p:sp>
        <p:nvSpPr>
          <p:cNvPr id="25" name="scenario-detail-3">
            <a:extLst xmlns:a="http://schemas.openxmlformats.org/drawingml/2006/main">
              <a:ext uri="{FF2B5EF4-FFF2-40B4-BE49-F238E27FC236}">
                <a16:creationId xmlns:a16="http://schemas.microsoft.com/office/drawing/2014/main" id="{7ED6F529-01CC-475D-B4E7-473CAF3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The transient provider error recovers on retry.</a:t>
            </a:r>
          </a:p>
        </p:txBody>
      </p:sp>
      <p:sp>
        <p:nvSpPr>
          <p:cNvPr id="26" name="scenario-rule-3">
            <a:extLst xmlns:a="http://schemas.openxmlformats.org/drawingml/2006/main">
              <a:ext uri="{FF2B5EF4-FFF2-40B4-BE49-F238E27FC236}">
                <a16:creationId xmlns:a16="http://schemas.microsoft.com/office/drawing/2014/main" id="{D227192C-DD6B-48DD-BE03-6B7C87E6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43900"/>
            <a:ext cx="8096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27" name="scenario-accent-4">
            <a:extLst xmlns:a="http://schemas.openxmlformats.org/drawingml/2006/main">
              <a:ext uri="{FF2B5EF4-FFF2-40B4-BE49-F238E27FC236}">
                <a16:creationId xmlns:a16="http://schemas.microsoft.com/office/drawing/2014/main" id="{6C9050DC-7E4A-4C65-8BF8-04FA753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487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CEB"/>
          </a:solidFill>
          <a:ln xmlns:a="http://schemas.openxmlformats.org/drawingml/2006/main" w="0">
            <a:noFill/>
          </a:ln>
        </p:spPr>
      </p:sp>
      <p:sp>
        <p:nvSpPr>
          <p:cNvPr id="28" name="scenario-id-4">
            <a:extLst xmlns:a="http://schemas.openxmlformats.org/drawingml/2006/main">
              <a:ext uri="{FF2B5EF4-FFF2-40B4-BE49-F238E27FC236}">
                <a16:creationId xmlns:a16="http://schemas.microsoft.com/office/drawing/2014/main" id="{7454F320-EF77-4C18-89AD-BF32604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1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FT-05</a:t>
            </a:r>
          </a:p>
        </p:txBody>
      </p:sp>
      <p:sp>
        <p:nvSpPr>
          <p:cNvPr id="29" name="scenario-label-4">
            <a:extLst xmlns:a="http://schemas.openxmlformats.org/drawingml/2006/main">
              <a:ext uri="{FF2B5EF4-FFF2-40B4-BE49-F238E27FC236}">
                <a16:creationId xmlns:a16="http://schemas.microsoft.com/office/drawing/2014/main" id="{6D2BC4E9-3BFE-4C27-BDB2-0FC29FCA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6010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IN-FLIGHT CANCELLATION</a:t>
            </a:r>
          </a:p>
        </p:txBody>
      </p:sp>
      <p:sp>
        <p:nvSpPr>
          <p:cNvPr id="30" name="scenario-detail-4">
            <a:extLst xmlns:a="http://schemas.openxmlformats.org/drawingml/2006/main">
              <a:ext uri="{FF2B5EF4-FFF2-40B4-BE49-F238E27FC236}">
                <a16:creationId xmlns:a16="http://schemas.microsoft.com/office/drawing/2014/main" id="{3A0C4A91-A723-4C40-928A-1177710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9916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The request ends cancelled, with no success terminal.</a:t>
            </a:r>
          </a:p>
        </p:txBody>
      </p:sp>
      <p:sp>
        <p:nvSpPr>
          <p:cNvPr id="31" name="scenario-footnote">
            <a:extLst xmlns:a="http://schemas.openxmlformats.org/drawingml/2006/main">
              <a:ext uri="{FF2B5EF4-FFF2-40B4-BE49-F238E27FC236}">
                <a16:creationId xmlns:a16="http://schemas.microsoft.com/office/drawing/2014/main" id="{51AAF585-B92B-42CD-8A80-8428281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346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9A8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9A8B9"/>
                </a:solidFill>
                <a:latin typeface="Helvetica Neue"/>
                <a:ea typeface="Helvetica Neue"/>
                <a:cs typeface="Helvetica Neue"/>
              </a:rPr>
              <a:t>All five must pass. Durations are diagnostic only.</a:t>
            </a:r>
          </a:p>
        </p:txBody>
      </p:sp>
    </p:spTree>
    <p:extLst>
      <p:ext uri="{BB962C8B-B14F-4D97-AF65-F5344CB8AC3E}">
        <p14:creationId xmlns:p14="http://schemas.microsoft.com/office/powerpoint/2010/main" val="1168241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9cf265fe147f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image-readability-overlay">
            <a:extLst xmlns:a="http://schemas.openxmlformats.org/drawingml/2006/main">
              <a:ext uri="{FF2B5EF4-FFF2-40B4-BE49-F238E27FC236}">
                <a16:creationId xmlns:a16="http://schemas.microsoft.com/office/drawing/2014/main" id="{A218F435-F87D-4D93-8AB4-24C5A045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3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305006DF-5F69-469A-877F-1E8BDEF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98D45F99-7ED2-4AA3-B472-9FE7D90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HEAV3NS  /  AGENT FLIGHT TEST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D9A0DB-B2A4-47DC-9ECD-D05AC9B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39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04 / 05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89BE0A-A915-4888-B2F7-B99ADCD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How to read a pass</a:t>
            </a:r>
          </a:p>
        </p:txBody>
      </p:sp>
      <p:sp>
        <p:nvSpPr>
          <p:cNvPr id="7" name="pass-definition">
            <a:extLst xmlns:a="http://schemas.openxmlformats.org/drawingml/2006/main">
              <a:ext uri="{FF2B5EF4-FFF2-40B4-BE49-F238E27FC236}">
                <a16:creationId xmlns:a16="http://schemas.microsoft.com/office/drawing/2014/main" id="{820124F6-1C97-4334-ACCE-F3F6DB8D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 pass requires every assertion in all five scenarios to hold.</a:t>
            </a:r>
          </a:p>
        </p:txBody>
      </p:sp>
      <p:sp>
        <p:nvSpPr>
          <p:cNvPr id="8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080A3EAF-1A57-46DD-85F2-CD5AD751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REAL ENGINE</a:t>
            </a:r>
          </a:p>
        </p:txBody>
      </p:sp>
      <p:sp>
        <p:nvSpPr>
          <p:cNvPr id="9" name="evidence-detail-0">
            <a:extLst xmlns:a="http://schemas.openxmlformats.org/drawingml/2006/main">
              <a:ext uri="{FF2B5EF4-FFF2-40B4-BE49-F238E27FC236}">
                <a16:creationId xmlns:a16="http://schemas.microsoft.com/office/drawing/2014/main" id="{B45EF3A9-579F-4C21-AD59-3135517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AgentEngine, registered workspace tools and scheduler run the turns.</a:t>
            </a:r>
          </a:p>
        </p:txBody>
      </p:sp>
      <p:sp>
        <p:nvSpPr>
          <p:cNvPr id="10" name="evidence-rule-0">
            <a:extLst xmlns:a="http://schemas.openxmlformats.org/drawingml/2006/main">
              <a:ext uri="{FF2B5EF4-FFF2-40B4-BE49-F238E27FC236}">
                <a16:creationId xmlns:a16="http://schemas.microsoft.com/office/drawing/2014/main" id="{30E279F2-A073-42AB-9D94-EFE3C0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7905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1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4F78553F-FB4E-47F3-8CEB-45C36A8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ISOLATED CASES</a:t>
            </a:r>
          </a:p>
        </p:txBody>
      </p:sp>
      <p:sp>
        <p:nvSpPr>
          <p:cNvPr id="12" name="evidence-detail-1">
            <a:extLst xmlns:a="http://schemas.openxmlformats.org/drawingml/2006/main">
              <a:ext uri="{FF2B5EF4-FFF2-40B4-BE49-F238E27FC236}">
                <a16:creationId xmlns:a16="http://schemas.microsoft.com/office/drawing/2014/main" id="{BF2B7C02-A365-4553-B069-4065C8D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Each scenario starts with a fresh engine, session and workspace.</a:t>
            </a:r>
          </a:p>
        </p:txBody>
      </p:sp>
      <p:sp>
        <p:nvSpPr>
          <p:cNvPr id="13" name="evidence-rule-1">
            <a:extLst xmlns:a="http://schemas.openxmlformats.org/drawingml/2006/main">
              <a:ext uri="{FF2B5EF4-FFF2-40B4-BE49-F238E27FC236}">
                <a16:creationId xmlns:a16="http://schemas.microsoft.com/office/drawing/2014/main" id="{8F0C8F80-AF73-4F34-B652-36E30BA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7905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4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77C26BF6-CD6E-416C-8A47-2A4FC49D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LOCAL PROVIDER</a:t>
            </a:r>
          </a:p>
        </p:txBody>
      </p:sp>
      <p:sp>
        <p:nvSpPr>
          <p:cNvPr id="15" name="evidence-detail-2">
            <a:extLst xmlns:a="http://schemas.openxmlformats.org/drawingml/2006/main">
              <a:ext uri="{FF2B5EF4-FFF2-40B4-BE49-F238E27FC236}">
                <a16:creationId xmlns:a16="http://schemas.microsoft.com/office/drawing/2014/main" id="{3A395E1D-D8EC-4378-9529-78D4341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055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Fixed scripted responses. No API key or live-model request.</a:t>
            </a:r>
          </a:p>
        </p:txBody>
      </p:sp>
      <p:sp>
        <p:nvSpPr>
          <p:cNvPr id="16" name="evidence-rule-2">
            <a:extLst xmlns:a="http://schemas.openxmlformats.org/drawingml/2006/main">
              <a:ext uri="{FF2B5EF4-FFF2-40B4-BE49-F238E27FC236}">
                <a16:creationId xmlns:a16="http://schemas.microsoft.com/office/drawing/2014/main" id="{72983C65-F7F0-4825-ABB2-C567085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48525"/>
            <a:ext cx="7905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6"/>
          </a:solidFill>
          <a:ln xmlns:a="http://schemas.openxmlformats.org/drawingml/2006/main" w="0">
            <a:noFill/>
          </a:ln>
        </p:spPr>
      </p:sp>
      <p:sp>
        <p:nvSpPr>
          <p:cNvPr id="17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757F02FC-249D-4C96-BF83-AB88FD1D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390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TRACEABLE REPORT</a:t>
            </a:r>
          </a:p>
        </p:txBody>
      </p:sp>
      <p:sp>
        <p:nvSpPr>
          <p:cNvPr id="18" name="evidence-detail-3">
            <a:extLst xmlns:a="http://schemas.openxmlformats.org/drawingml/2006/main">
              <a:ext uri="{FF2B5EF4-FFF2-40B4-BE49-F238E27FC236}">
                <a16:creationId xmlns:a16="http://schemas.microsoft.com/office/drawing/2014/main" id="{AA045BBB-B27F-41B8-B864-E0F5EAC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628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Revision, input digest, assertions, outcomes and diagnostic times.</a:t>
            </a:r>
          </a:p>
        </p:txBody>
      </p:sp>
      <p:sp>
        <p:nvSpPr>
          <p:cNvPr id="19" name="scope-rule">
            <a:extLst xmlns:a="http://schemas.openxmlformats.org/drawingml/2006/main">
              <a:ext uri="{FF2B5EF4-FFF2-40B4-BE49-F238E27FC236}">
                <a16:creationId xmlns:a16="http://schemas.microsoft.com/office/drawing/2014/main" id="{C8F4FFDC-AF04-4E36-AC7E-08CC300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20" name="scope-disclosure">
            <a:extLst xmlns:a="http://schemas.openxmlformats.org/drawingml/2006/main">
              <a:ext uri="{FF2B5EF4-FFF2-40B4-BE49-F238E27FC236}">
                <a16:creationId xmlns:a16="http://schemas.microsoft.com/office/drawing/2014/main" id="{4D5105C5-B5F7-40DE-9D04-616450B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39275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Harness conformance only. This suite does not measure live-model quality, task-solving, code quality, agent rank or speed.</a:t>
            </a:r>
          </a:p>
        </p:txBody>
      </p:sp>
    </p:spTree>
    <p:extLst>
      <p:ext uri="{BB962C8B-B14F-4D97-AF65-F5344CB8AC3E}">
        <p14:creationId xmlns:p14="http://schemas.microsoft.com/office/powerpoint/2010/main" val="436733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1197a8868436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3CB59BB7-9B19-46FC-A0DA-CDD4192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1C4A74CF-FBC1-43A4-8901-68BE420A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HEAV3NS  /  AGENT FLIGHT TEST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786FB7-74BF-4678-996F-220509F8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39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05 / 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B46114-7AF1-43E5-937C-6E384E36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Run it in your repo</a:t>
            </a:r>
          </a:p>
        </p:txBody>
      </p:sp>
      <p:sp>
        <p:nvSpPr>
          <p:cNvPr id="6" name="prerequisite">
            <a:extLst xmlns:a="http://schemas.openxmlformats.org/drawingml/2006/main">
              <a:ext uri="{FF2B5EF4-FFF2-40B4-BE49-F238E27FC236}">
                <a16:creationId xmlns:a16="http://schemas.microsoft.com/office/drawing/2014/main" id="{3E89CDC2-865F-41DB-9E37-F75CA5D3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Node.js 22.12+  /  repository dependencies installed</a:t>
            </a:r>
          </a:p>
        </p:txBody>
      </p:sp>
      <p:sp>
        <p:nvSpPr>
          <p:cNvPr id="7" name="command-surface">
            <a:extLst xmlns:a="http://schemas.openxmlformats.org/drawingml/2006/main">
              <a:ext uri="{FF2B5EF4-FFF2-40B4-BE49-F238E27FC236}">
                <a16:creationId xmlns:a16="http://schemas.microsoft.com/office/drawing/2014/main" id="{D2495A9C-7159-4FB1-8B0E-7EA8E6FD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096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0">
            <a:noFill/>
          </a:ln>
        </p:spPr>
      </p:sp>
      <p:sp>
        <p:nvSpPr>
          <p:cNvPr id="8" name="command-accent">
            <a:extLst xmlns:a="http://schemas.openxmlformats.org/drawingml/2006/main">
              <a:ext uri="{FF2B5EF4-FFF2-40B4-BE49-F238E27FC236}">
                <a16:creationId xmlns:a16="http://schemas.microsoft.com/office/drawing/2014/main" id="{8AF29839-177F-4154-9604-F9C3510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262"/>
          </a:solidFill>
          <a:ln xmlns:a="http://schemas.openxmlformats.org/drawingml/2006/main" w="0">
            <a:noFill/>
          </a:ln>
        </p:spPr>
      </p:sp>
      <p:sp>
        <p:nvSpPr>
          <p:cNvPr id="9" name="command">
            <a:extLst xmlns:a="http://schemas.openxmlformats.org/drawingml/2006/main">
              <a:ext uri="{FF2B5EF4-FFF2-40B4-BE49-F238E27FC236}">
                <a16:creationId xmlns:a16="http://schemas.microsoft.com/office/drawing/2014/main" id="{38A82DFE-713F-4CFA-9D0C-6C26878E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npm ci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npm run benchmark:flight</a:t>
            </a:r>
          </a:p>
        </p:txBody>
      </p:sp>
      <p:sp>
        <p:nvSpPr>
          <p:cNvPr id="10" name="no-credentials">
            <a:extLst xmlns:a="http://schemas.openxmlformats.org/drawingml/2006/main">
              <a:ext uri="{FF2B5EF4-FFF2-40B4-BE49-F238E27FC236}">
                <a16:creationId xmlns:a16="http://schemas.microsoft.com/office/drawing/2014/main" id="{986C2741-DA96-4BB3-8FB6-11DBD33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9DCEB"/>
                </a:solidFill>
                <a:latin typeface="Helvetica Neue"/>
                <a:ea typeface="Helvetica Neue"/>
                <a:cs typeface="Helvetica Neue"/>
              </a:rPr>
              <a:t>No API key or live-model call required.</a:t>
            </a:r>
          </a:p>
        </p:txBody>
      </p:sp>
      <p:sp>
        <p:nvSpPr>
          <p:cNvPr id="11" name="adoption-copy">
            <a:extLst xmlns:a="http://schemas.openxmlformats.org/drawingml/2006/main">
              <a:ext uri="{FF2B5EF4-FFF2-40B4-BE49-F238E27FC236}">
                <a16:creationId xmlns:a16="http://schemas.microsoft.com/office/drawing/2014/main" id="{5E5DC5C4-2FA5-48CE-B906-DD7BD173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781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Review the methodology and JSON report. Tell us which harness contract to test next.</a:t>
            </a:r>
          </a:p>
        </p:txBody>
      </p:sp>
      <p:sp>
        <p:nvSpPr>
          <p:cNvPr id="12" name="repo-link">
            <a:extLst xmlns:a="http://schemas.openxmlformats.org/drawingml/2006/main">
              <a:ext uri="{FF2B5EF4-FFF2-40B4-BE49-F238E27FC236}">
                <a16:creationId xmlns:a16="http://schemas.microsoft.com/office/drawing/2014/main" id="{47A7675B-85BF-410F-9759-2BEDC6B5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152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5CFDB"/>
                </a:solidFill>
                <a:latin typeface="Helvetica Neue"/>
                <a:ea typeface="Helvetica Neue"/>
                <a:cs typeface="Helvetica Neue"/>
              </a:rPr>
              <a:t>github.com/CardSorting/HEAV3NS/tree/main/agent-flight-test</a:t>
            </a:r>
          </a:p>
        </p:txBody>
      </p:sp>
      <p:sp>
        <p:nvSpPr>
          <p:cNvPr id="13" name="cta-close">
            <a:extLst xmlns:a="http://schemas.openxmlformats.org/drawingml/2006/main">
              <a:ext uri="{FF2B5EF4-FFF2-40B4-BE49-F238E27FC236}">
                <a16:creationId xmlns:a16="http://schemas.microsoft.com/office/drawing/2014/main" id="{32172F7A-FCBA-498F-A572-7A026D10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58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Precision at speed. Pilot in command.</a:t>
            </a:r>
          </a:p>
        </p:txBody>
      </p:sp>
    </p:spTree>
    <p:extLst>
      <p:ext uri="{BB962C8B-B14F-4D97-AF65-F5344CB8AC3E}">
        <p14:creationId xmlns:p14="http://schemas.microsoft.com/office/powerpoint/2010/main" val="1356805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2026-09-22T19:55:56.0030000Z</dcterms:created>
  <dcterms:modified xsi:type="dcterms:W3CDTF">2026-09-22T19:55:56.0030000Z</dcterms:modified>
</coreProperties>
</file>