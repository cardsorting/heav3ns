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a1f8533a384375" /><Relationship Type="http://schemas.openxmlformats.org/officeDocument/2006/relationships/extended-properties" Target="/docProps/app.xml" Id="R5f009ecbbb2f4781" /><Relationship Type="http://schemas.openxmlformats.org/officeDocument/2006/relationships/officeDocument" Target="/ppt/presentation.xml" Id="R71b81a8c56fe4dfd" /></Relationships>
</file>

<file path=ppt/presentation.xml><?xml version="1.0" encoding="utf-8"?>
<p:presentation xmlns:p="http://schemas.openxmlformats.org/presentationml/2006/main">
  <p:sldMasterIdLst>
    <p:sldMasterId xmlns:r="http://schemas.openxmlformats.org/officeDocument/2006/relationships" id="2147483648" r:id="Rc869e3ad67204177"/>
  </p:sldMasterIdLst>
  <p:notesMasterIdLst>
    <p:notesMasterId xmlns:r="http://schemas.openxmlformats.org/officeDocument/2006/relationships" r:id="R1ff6732a7dbe40c0"/>
  </p:notesMasterIdLst>
  <p:sldIdLst>
    <p:sldId xmlns:r="http://schemas.openxmlformats.org/officeDocument/2006/relationships" id="256" r:id="R460ef2f7ba0848d5"/>
    <p:sldId xmlns:r="http://schemas.openxmlformats.org/officeDocument/2006/relationships" id="257" r:id="Reb3f63fc4d004fc8"/>
    <p:sldId xmlns:r="http://schemas.openxmlformats.org/officeDocument/2006/relationships" id="258" r:id="R2823e899d9fc45b3"/>
    <p:sldId xmlns:r="http://schemas.openxmlformats.org/officeDocument/2006/relationships" id="259" r:id="R192341faab4e44c3"/>
    <p:sldId xmlns:r="http://schemas.openxmlformats.org/officeDocument/2006/relationships" id="261" r:id="RFlightProject6"/>
    <p:sldId xmlns:r="http://schemas.openxmlformats.org/officeDocument/2006/relationships" id="262" r:id="RFlightMethod7"/>
    <p:sldId xmlns:r="http://schemas.openxmlformats.org/officeDocument/2006/relationships" id="260" r:id="R60c293f19b8f482c"/>
  </p:sldIdLst>
  <p:sldSz cx="10287000" cy="128587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c9b8dbd684548e7" /><Relationship Type="http://schemas.openxmlformats.org/officeDocument/2006/relationships/slideMaster" Target="/ppt/slideMasters/slideMaster1.xml" Id="Rc869e3ad67204177" /><Relationship Type="http://schemas.openxmlformats.org/officeDocument/2006/relationships/notesMaster" Target="/ppt/notesMasters/notesMaster1.xml" Id="R1ff6732a7dbe40c0" /><Relationship Type="http://schemas.openxmlformats.org/officeDocument/2006/relationships/presProps" Target="/ppt/presProps.xml" Id="R7ea07e4d1f5c4a6b" /><Relationship Type="http://schemas.openxmlformats.org/officeDocument/2006/relationships/tableStyles" Target="/ppt/tableStyles.xml" Id="Rb20dc31799ea4621" /><Relationship Type="http://schemas.openxmlformats.org/officeDocument/2006/relationships/slide" Target="/ppt/slides/slide1.xml" Id="R460ef2f7ba0848d5" /><Relationship Type="http://schemas.openxmlformats.org/officeDocument/2006/relationships/slide" Target="/ppt/slides/slide2.xml" Id="Reb3f63fc4d004fc8" /><Relationship Type="http://schemas.openxmlformats.org/officeDocument/2006/relationships/slide" Target="/ppt/slides/slide3.xml" Id="R2823e899d9fc45b3" /><Relationship Type="http://schemas.openxmlformats.org/officeDocument/2006/relationships/slide" Target="/ppt/slides/slide4.xml" Id="R192341faab4e44c3" /><Relationship Type="http://schemas.openxmlformats.org/officeDocument/2006/relationships/slide" Target="/ppt/slides/slide5.xml" Id="R60c293f19b8f482c" /><Relationship Type="http://schemas.openxmlformats.org/officeDocument/2006/relationships/slide" Target="/ppt/slides/slide6.xml" Id="RFlightProject6" /><Relationship Type="http://schemas.openxmlformats.org/officeDocument/2006/relationships/slide" Target="/ppt/slides/slide7.xml" Id="RFlightMethod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06a7d0f8237428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0c7af411cb418d" /><Relationship Type="http://schemas.openxmlformats.org/officeDocument/2006/relationships/notesMaster" Target="/ppt/notesMasters/notesMaster1.xml" Id="R8fe2bf80949a430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538ea4d2ae477c" /><Relationship Type="http://schemas.openxmlformats.org/officeDocument/2006/relationships/notesMaster" Target="/ppt/notesMasters/notesMaster1.xml" Id="Rfa86e1760ae84b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914344a6f0504de9" /><Relationship Type="http://schemas.openxmlformats.org/officeDocument/2006/relationships/notesMaster" Target="/ppt/notesMasters/notesMaster1.xml" Id="R0ac455668e444e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5da220693e4585" /><Relationship Type="http://schemas.openxmlformats.org/officeDocument/2006/relationships/notesMaster" Target="/ppt/notesMasters/notesMaster1.xml" Id="R80f10aaa2c7446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e208100544344e5a" /><Relationship Type="http://schemas.openxmlformats.org/officeDocument/2006/relationships/notesMaster" Target="/ppt/notesMasters/notesMaster1.xml" Id="Rdda822d90bf24a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914344a6f0504de9" /><Relationship Type="http://schemas.openxmlformats.org/officeDocument/2006/relationships/notesMaster" Target="/ppt/notesMasters/notesMaster1.xml" Id="R0ac455668e444ea5"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5da220693e4585" /><Relationship Type="http://schemas.openxmlformats.org/officeDocument/2006/relationships/notesMaster" Target="/ppt/notesMasters/notesMaster1.xml" Id="R80f10aaa2c7446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 text: Experimental aircraft climbing above clouds. The cover introduces the measured harness baseline and a proposed project-scale benchmark for speed, verified task completion and long-run continuity; it does not present comparative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 text: The slide places HEAV3NS in a current coding-agent landscape: developer-attended local or IDE surfaces and hosted asynchronous agents. Examples shown are HEAV3NS CLI, Claude Code, Cursor Agent, Codex CLI, GitHub Copilot CLI, Cursor Background Agents, Codex cloud, and GitHub Copilot cloud agent. The landscape is a workflow snapshot, not a capability ranking.
Sources (official product documentation, checked 2026-09-22): Anthropic Claude Code getting started https://docs.anthropic.com/en/docs/claude-code/getting-started ; Cursor modes https://docs.cursor.com/agent and background agents https://docs.cursor.com/background-agent ; GitHub Copilot agent surfaces https://docs.github.com/en/copilot/responsible-use/agents ; OpenAI Codex CLI and agent loop https://openai.com/index/unrolling-the-codex-agent-loop/ and Codex app https://openai.com/index/introducing-the-codex-app/.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 text: A dark runway with red and cyan lights accompanies five rows naming FT-01 through FT-05: context readback, edit and reread, invalid-argument recovery, HTTP 503 retry, and in-flight cancellation. Current run: all five passed, with 5/5, 6/6, 4/4, 4/4 and 5/5 assertion checks, respectively (2026-09-22).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 text: The baseline slide reports the actual local run: 5/5 harness-conformance scenarios passed, with 24/24 assertion checks across the five cases. The 279 ms total is from the scripted fixture run on Node v26.8.1, macOS arm64, at revision 2a25c2f. It is diagnostic only, not an agent task-latency benchmark. The suite made no live-model or external API request. Source: npm run --silent benchmark:flight -- --format json, run 2026-09-22 UTC; see agent-flight-test/METHODOLOGY.md for score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 text: The final slide shows npm ci and npm run benchmark:flight. This command runs the current no-key, deterministic five-scenario harness baseline. The proposed game, web-design, knowledge, long-run, speed and task-completion benchmark is not yet implemented.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 text: Five project tracks define game feature work, responsive web design, repository knowledge, linked follow-up tasks, and independent outcome checks. These are proposed test workloads, not completed benchmark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Alt text: The proposed methodology checks a 72-hour project across sessions, verifier-based completion, prompt-to-pass time, trust signals, and separate project leaderboards. Plan: at least 30 paired randomized task trials per task, plus three long-run soak repeats per project. Rank system execution only, with the same model/version where supported; unmatched models use separate cohorts. No model-quality ranking. This is a proposed track, not measured comparative results. Internal source: agent-flight-test/METHODOLOGY.md.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858dddded24ce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89f49960ce4509" /><Relationship Type="http://schemas.openxmlformats.org/officeDocument/2006/relationships/slideLayout" Target="/ppt/slideLayouts/slideLayout1.xml" Id="R1cd40d11d3174c6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cd40d11d3174c6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5ae5189d05b4825" /><Relationship Type="http://schemas.openxmlformats.org/officeDocument/2006/relationships/image" Target="/ppt/media/image.png" Id="R2a7f3a56c3ff4270" /><Relationship Type="http://schemas.openxmlformats.org/officeDocument/2006/relationships/notesSlide" Target="/ppt/notesSlides/notesSlide1.xml" Id="Rdbce67d078ef45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1616a4cc274b10" /><Relationship Type="http://schemas.openxmlformats.org/officeDocument/2006/relationships/image" Target="/ppt/media/image2.png" Id="Radd48ae30e8e4130" /><Relationship Type="http://schemas.openxmlformats.org/officeDocument/2006/relationships/notesSlide" Target="/ppt/notesSlides/notesSlide2.xml" Id="R43c690059db54b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297fd9899384a32" /><Relationship Type="http://schemas.openxmlformats.org/officeDocument/2006/relationships/image" Target="/ppt/media/image3.png" Id="R2d6768d9896c458b" /><Relationship Type="http://schemas.openxmlformats.org/officeDocument/2006/relationships/notesSlide" Target="/ppt/notesSlides/notesSlide3.xml" Id="R4990990bc0fc4f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0e77553e9264554" /><Relationship Type="http://schemas.openxmlformats.org/officeDocument/2006/relationships/image" Target="/ppt/media/image4.png" Id="R16a9cf265fe147fb" /><Relationship Type="http://schemas.openxmlformats.org/officeDocument/2006/relationships/notesSlide" Target="/ppt/notesSlides/notesSlide4.xml" Id="Rfed1fac159db45f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0a71915625a4bb1" /><Relationship Type="http://schemas.openxmlformats.org/officeDocument/2006/relationships/image" Target="/ppt/media/image5.png" Id="R0351197a88684365" /><Relationship Type="http://schemas.openxmlformats.org/officeDocument/2006/relationships/notesSlide" Target="/ppt/notesSlides/notesSlide5.xml" Id="R3025dd4bc3234e3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97fd9899384a32" /><Relationship Type="http://schemas.openxmlformats.org/officeDocument/2006/relationships/image" Target="/ppt/media/image3.png" Id="R2d6768d9896c458b" /><Relationship Type="http://schemas.openxmlformats.org/officeDocument/2006/relationships/notesSlide" Target="/ppt/notesSlides/notesSlide6.xml" Id="R4990990bc0fc4f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297fd9899384a32" /><Relationship Type="http://schemas.openxmlformats.org/officeDocument/2006/relationships/image" Target="/ppt/media/image4.png" Id="R2d6768d9896c458b" /><Relationship Type="http://schemas.openxmlformats.org/officeDocument/2006/relationships/notesSlide" Target="/ppt/notesSlides/notesSlide7.xml" Id="R4990990bc0fc4f59" /></Relationships>
</file>

<file path=ppt/slides/slide1.xml><?xml version="1.0" encoding="utf-8"?>
<p:sld xmlns:p="http://schemas.openxmlformats.org/presentationml/2006/main">
  <p:cSld>
    <p:bg>
      <p:bgPr>
        <a:solidFill xmlns:a="http://schemas.openxmlformats.org/drawingml/2006/main">
          <a:srgbClr val="08111B"/>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2a7f3a56c3ff4270"/>
          <a:srcRect xmlns:a="http://schemas.openxmlformats.org/drawingml/2006/main" l="18" t="0" r="18" b="0"/>
          <a:stretch xmlns:a="http://schemas.openxmlformats.org/drawingml/2006/main">
            <a:fillRect l="0" t="0" r="0" b="0"/>
          </a:stretch>
        </p:blipFill>
        <p:spPr>
          <a:xfrm xmlns:a="http://schemas.openxmlformats.org/drawingml/2006/main">
            <a:off x="0" y="0"/>
            <a:ext cx="10287000" cy="12858750"/>
          </a:xfrm>
          <a:prstGeom xmlns:a="http://schemas.openxmlformats.org/drawingml/2006/main" prst="rect">
            <a:avLst/>
          </a:prstGeom>
        </p:spPr>
      </p:pic>
      <p:sp>
        <p:nvSpPr>
          <p:cNvPr id="2" name="brand-accent">
            <a:extLst xmlns:a="http://schemas.openxmlformats.org/drawingml/2006/main">
              <a:ext uri="{FF2B5EF4-FFF2-40B4-BE49-F238E27FC236}">
                <a16:creationId xmlns:a16="http://schemas.microsoft.com/office/drawing/2014/main" id="{8D5235EE-FB6E-4E66-B53F-A262E187ED5D}"/>
              </a:ext>
            </a:extLst>
          </p:cNvPr>
          <p:cNvSpPr>
            <a:spLocks xmlns:a="http://schemas.openxmlformats.org/drawingml/2006/main" noGrp="1"/>
          </p:cNvSpPr>
          <p:nvPr/>
        </p:nvSpPr>
        <p:spPr>
          <a:xfrm xmlns:a="http://schemas.openxmlformats.org/drawingml/2006/main">
            <a:off x="762000" y="647700"/>
            <a:ext cx="38100" cy="20955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3" name="brand">
            <a:extLst xmlns:a="http://schemas.openxmlformats.org/drawingml/2006/main">
              <a:ext uri="{FF2B5EF4-FFF2-40B4-BE49-F238E27FC236}">
                <a16:creationId xmlns:a16="http://schemas.microsoft.com/office/drawing/2014/main" id="{CA0F573D-BC74-4877-9B7E-E8E070A93CE3}"/>
              </a:ext>
            </a:extLst>
          </p:cNvPr>
          <p:cNvSpPr>
            <a:spLocks xmlns:a="http://schemas.openxmlformats.org/drawingml/2006/main" noGrp="1"/>
          </p:cNvSpPr>
          <p:nvPr/>
        </p:nvSpPr>
        <p:spPr>
          <a:xfrm xmlns:a="http://schemas.openxmlformats.org/drawingml/2006/main">
            <a:off x="933450" y="6381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C5CFDB"/>
                </a:solidFill>
                <a:latin typeface="Helvetica Neue"/>
                <a:ea typeface="Helvetica Neue"/>
                <a:cs typeface="Helvetica Neue"/>
              </a:defRPr>
            </a:pPr>
            <a:r>
              <a:rPr sz="1350" b="1">
                <a:solidFill>
                  <a:srgbClr val="C5CFDB"/>
                </a:solidFill>
                <a:latin typeface="Helvetica Neue"/>
                <a:ea typeface="Helvetica Neue"/>
                <a:cs typeface="Helvetica Neue"/>
              </a:rPr>
              <a:t>HEAV3NS  /  AGENT FLIGHT TEST</a:t>
            </a:r>
          </a:p>
        </p:txBody>
      </p:sp>
      <p:sp>
        <p:nvSpPr>
          <p:cNvPr id="4" name="page-number">
            <a:extLst xmlns:a="http://schemas.openxmlformats.org/drawingml/2006/main">
              <a:ext uri="{FF2B5EF4-FFF2-40B4-BE49-F238E27FC236}">
                <a16:creationId xmlns:a16="http://schemas.microsoft.com/office/drawing/2014/main" id="{78929836-3A0C-4791-9818-B790181C2C93}"/>
              </a:ext>
            </a:extLst>
          </p:cNvPr>
          <p:cNvSpPr>
            <a:spLocks xmlns:a="http://schemas.openxmlformats.org/drawingml/2006/main" noGrp="1"/>
          </p:cNvSpPr>
          <p:nvPr/>
        </p:nvSpPr>
        <p:spPr>
          <a:xfrm xmlns:a="http://schemas.openxmlformats.org/drawingml/2006/main">
            <a:off x="8572500" y="12039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C5CFDB"/>
                </a:solidFill>
                <a:latin typeface="Helvetica Neue"/>
                <a:ea typeface="Helvetica Neue"/>
                <a:cs typeface="Helvetica Neue"/>
              </a:defRPr>
            </a:pPr>
            <a:r>
              <a:rPr sz="1350" b="0">
                <a:solidFill>
                  <a:srgbClr val="C5CFDB"/>
                </a:solidFill>
                <a:latin typeface="Helvetica Neue"/>
                <a:ea typeface="Helvetica Neue"/>
                <a:cs typeface="Helvetica Neue"/>
              </a:rPr>
              <a:t>01 / 07</a:t>
            </a:r>
          </a:p>
        </p:txBody>
      </p:sp>
      <p:sp>
        <p:nvSpPr>
          <p:cNvPr id="5" name="cover-red-rule">
            <a:extLst xmlns:a="http://schemas.openxmlformats.org/drawingml/2006/main">
              <a:ext uri="{FF2B5EF4-FFF2-40B4-BE49-F238E27FC236}">
                <a16:creationId xmlns:a16="http://schemas.microsoft.com/office/drawing/2014/main" id="{DE68E1BE-3ABE-413B-B517-46604E08740E}"/>
              </a:ext>
            </a:extLst>
          </p:cNvPr>
          <p:cNvSpPr>
            <a:spLocks xmlns:a="http://schemas.openxmlformats.org/drawingml/2006/main" noGrp="1"/>
          </p:cNvSpPr>
          <p:nvPr/>
        </p:nvSpPr>
        <p:spPr>
          <a:xfrm xmlns:a="http://schemas.openxmlformats.org/drawingml/2006/main">
            <a:off x="762000" y="2381250"/>
            <a:ext cx="514350" cy="38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6" name="cover-kicker">
            <a:extLst xmlns:a="http://schemas.openxmlformats.org/drawingml/2006/main">
              <a:ext uri="{FF2B5EF4-FFF2-40B4-BE49-F238E27FC236}">
                <a16:creationId xmlns:a16="http://schemas.microsoft.com/office/drawing/2014/main" id="{03356DB3-7F9A-4998-8F69-3DEBC2ADC91B}"/>
              </a:ext>
            </a:extLst>
          </p:cNvPr>
          <p:cNvSpPr>
            <a:spLocks xmlns:a="http://schemas.openxmlformats.org/drawingml/2006/main" noGrp="1"/>
          </p:cNvSpPr>
          <p:nvPr/>
        </p:nvSpPr>
        <p:spPr>
          <a:xfrm xmlns:a="http://schemas.openxmlformats.org/drawingml/2006/main">
            <a:off x="762000" y="2667000"/>
            <a:ext cx="695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79DCEB"/>
                </a:solidFill>
                <a:latin typeface="Helvetica Neue"/>
                <a:ea typeface="Helvetica Neue"/>
                <a:cs typeface="Helvetica Neue"/>
              </a:defRPr>
            </a:pPr>
            <a:r>
              <a:rPr sz="1500" b="1">
                <a:solidFill>
                  <a:srgbClr val="79DCEB"/>
                </a:solidFill>
                <a:latin typeface="Helvetica Neue"/>
                <a:ea typeface="Helvetica Neue"/>
                <a:cs typeface="Helvetica Neue"/>
              </a:rPr>
              <a:t>OPEN-SOURCE  /  AGENT EXECUTION BENCHMARK</a:t>
            </a:r>
          </a:p>
        </p:txBody>
      </p:sp>
      <p:sp>
        <p:nvSpPr>
          <p:cNvPr id="7" name="cover-title">
            <a:extLst xmlns:a="http://schemas.openxmlformats.org/drawingml/2006/main">
              <a:ext uri="{FF2B5EF4-FFF2-40B4-BE49-F238E27FC236}">
                <a16:creationId xmlns:a16="http://schemas.microsoft.com/office/drawing/2014/main" id="{A9DC4CA0-73AE-454A-8A06-B43F60C1FEDA}"/>
              </a:ext>
            </a:extLst>
          </p:cNvPr>
          <p:cNvSpPr>
            <a:spLocks xmlns:a="http://schemas.openxmlformats.org/drawingml/2006/main" noGrp="1"/>
          </p:cNvSpPr>
          <p:nvPr/>
        </p:nvSpPr>
        <p:spPr>
          <a:xfrm xmlns:a="http://schemas.openxmlformats.org/drawingml/2006/main">
            <a:off x="723900" y="3257550"/>
            <a:ext cx="495300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91000"/>
              </a:lnSpc>
              <a:buNone/>
              <a:defRPr sz="6150" b="1">
                <a:solidFill>
                  <a:srgbClr val="F5F7FA"/>
                </a:solidFill>
                <a:latin typeface="Helvetica Neue"/>
                <a:ea typeface="Helvetica Neue"/>
                <a:cs typeface="Helvetica Neue"/>
              </a:defRPr>
            </a:pPr>
            <a:r>
              <a:rPr sz="6150" b="1">
                <a:solidFill>
                  <a:srgbClr val="F5F7FA"/>
                </a:solidFill>
                <a:latin typeface="Helvetica Neue"/>
                <a:ea typeface="Helvetica Neue"/>
                <a:cs typeface="Helvetica Neue"/>
              </a:rPr>
              <a:t>AGENT</a:t>
            </a:r>
          </a:p>
          <a:p xmlns:a="http://schemas.openxmlformats.org/drawingml/2006/main">
            <a:pPr algn="l">
              <a:lnSpc>
                <a:spcPct val="91000"/>
              </a:lnSpc>
              <a:buNone/>
              <a:defRPr sz="6150" b="1">
                <a:solidFill>
                  <a:srgbClr val="F5F7FA"/>
                </a:solidFill>
                <a:latin typeface="Helvetica Neue"/>
                <a:ea typeface="Helvetica Neue"/>
                <a:cs typeface="Helvetica Neue"/>
              </a:defRPr>
            </a:pPr>
            <a:r>
              <a:rPr sz="6150" b="1">
                <a:solidFill>
                  <a:srgbClr val="F5F7FA"/>
                </a:solidFill>
                <a:latin typeface="Helvetica Neue"/>
                <a:ea typeface="Helvetica Neue"/>
                <a:cs typeface="Helvetica Neue"/>
              </a:rPr>
              <a:t>FLIGHT</a:t>
            </a:r>
          </a:p>
          <a:p xmlns:a="http://schemas.openxmlformats.org/drawingml/2006/main">
            <a:pPr algn="l">
              <a:lnSpc>
                <a:spcPct val="91000"/>
              </a:lnSpc>
              <a:buNone/>
              <a:defRPr sz="6150" b="1">
                <a:solidFill>
                  <a:srgbClr val="F5F7FA"/>
                </a:solidFill>
                <a:latin typeface="Helvetica Neue"/>
                <a:ea typeface="Helvetica Neue"/>
                <a:cs typeface="Helvetica Neue"/>
              </a:defRPr>
            </a:pPr>
            <a:r>
              <a:rPr sz="6150" b="1">
                <a:solidFill>
                  <a:srgbClr val="F5F7FA"/>
                </a:solidFill>
                <a:latin typeface="Helvetica Neue"/>
                <a:ea typeface="Helvetica Neue"/>
                <a:cs typeface="Helvetica Neue"/>
              </a:rPr>
              <a:t>TEST</a:t>
            </a:r>
          </a:p>
        </p:txBody>
      </p:sp>
      <p:sp>
        <p:nvSpPr>
          <p:cNvPr id="8" name="cover-value">
            <a:extLst xmlns:a="http://schemas.openxmlformats.org/drawingml/2006/main">
              <a:ext uri="{FF2B5EF4-FFF2-40B4-BE49-F238E27FC236}">
                <a16:creationId xmlns:a16="http://schemas.microsoft.com/office/drawing/2014/main" id="{9B1D8587-4997-42FB-8EBE-272858403768}"/>
              </a:ext>
            </a:extLst>
          </p:cNvPr>
          <p:cNvSpPr>
            <a:spLocks xmlns:a="http://schemas.openxmlformats.org/drawingml/2006/main" noGrp="1"/>
          </p:cNvSpPr>
          <p:nvPr/>
        </p:nvSpPr>
        <p:spPr>
          <a:xfrm xmlns:a="http://schemas.openxmlformats.org/drawingml/2006/main">
            <a:off x="781050" y="6858000"/>
            <a:ext cx="723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325" b="1">
                <a:solidFill>
                  <a:srgbClr val="F5F7FA"/>
                </a:solidFill>
                <a:latin typeface="Helvetica Neue"/>
                <a:ea typeface="Helvetica Neue"/>
                <a:cs typeface="Helvetica Neue"/>
              </a:defRPr>
            </a:pPr>
            <a:r>
              <a:rPr sz="2325" b="1">
                <a:solidFill>
                  <a:srgbClr val="F5F7FA"/>
                </a:solidFill>
                <a:latin typeface="Helvetica Neue"/>
                <a:ea typeface="Helvetica Neue"/>
                <a:cs typeface="Helvetica Neue"/>
              </a:rPr>
              <a:t>The fighter jet for focused coding work</a:t>
            </a:r>
          </a:p>
        </p:txBody>
      </p:sp>
      <p:sp>
        <p:nvSpPr>
          <p:cNvPr id="9" name="cover-description">
            <a:extLst xmlns:a="http://schemas.openxmlformats.org/drawingml/2006/main">
              <a:ext uri="{FF2B5EF4-FFF2-40B4-BE49-F238E27FC236}">
                <a16:creationId xmlns:a16="http://schemas.microsoft.com/office/drawing/2014/main" id="{F3208885-BF3E-4E3C-8102-1C75E4514B0A}"/>
              </a:ext>
            </a:extLst>
          </p:cNvPr>
          <p:cNvSpPr>
            <a:spLocks xmlns:a="http://schemas.openxmlformats.org/drawingml/2006/main" noGrp="1"/>
          </p:cNvSpPr>
          <p:nvPr/>
        </p:nvSpPr>
        <p:spPr>
          <a:xfrm xmlns:a="http://schemas.openxmlformats.org/drawingml/2006/main">
            <a:off x="781050" y="7581900"/>
            <a:ext cx="704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C5CFDB"/>
                </a:solidFill>
                <a:latin typeface="Helvetica Neue"/>
                <a:ea typeface="Helvetica Neue"/>
                <a:cs typeface="Helvetica Neue"/>
              </a:defRPr>
            </a:pPr>
            <a:r>
              <a:rPr sz="1800" b="0">
                <a:solidFill>
                  <a:srgbClr val="C5CFDB"/>
                </a:solidFill>
                <a:latin typeface="Helvetica Neue"/>
                <a:ea typeface="Helvetica Neue"/>
                <a:cs typeface="Helvetica Neue"/>
              </a:rPr>
              <a:t>Harness baseline plus a project-scale plan for speed, completion and continuity.</a:t>
            </a:r>
          </a:p>
        </p:txBody>
      </p:sp>
      <p:sp>
        <p:nvSpPr>
          <p:cNvPr id="10" name="cover-version">
            <a:extLst xmlns:a="http://schemas.openxmlformats.org/drawingml/2006/main">
              <a:ext uri="{FF2B5EF4-FFF2-40B4-BE49-F238E27FC236}">
                <a16:creationId xmlns:a16="http://schemas.microsoft.com/office/drawing/2014/main" id="{82D23EDF-3359-4AF9-9CEC-23C0075E117C}"/>
              </a:ext>
            </a:extLst>
          </p:cNvPr>
          <p:cNvSpPr>
            <a:spLocks xmlns:a="http://schemas.openxmlformats.org/drawingml/2006/main" noGrp="1"/>
          </p:cNvSpPr>
          <p:nvPr/>
        </p:nvSpPr>
        <p:spPr>
          <a:xfrm xmlns:a="http://schemas.openxmlformats.org/drawingml/2006/main">
            <a:off x="781050" y="8572500"/>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99A8B9"/>
                </a:solidFill>
                <a:latin typeface="Helvetica Neue"/>
                <a:ea typeface="Helvetica Neue"/>
                <a:cs typeface="Helvetica Neue"/>
              </a:defRPr>
            </a:pPr>
            <a:r>
              <a:rPr sz="1350" b="1">
                <a:solidFill>
                  <a:srgbClr val="99A8B9"/>
                </a:solidFill>
                <a:latin typeface="Helvetica Neue"/>
                <a:ea typeface="Helvetica Neue"/>
                <a:cs typeface="Helvetica Neue"/>
              </a:rPr>
              <a:t>AGENT FLIGHT TEST  v0.3.0</a:t>
            </a:r>
          </a:p>
        </p:txBody>
      </p:sp>
    </p:spTree>
    <p:extLst>
      <p:ext uri="{BB962C8B-B14F-4D97-AF65-F5344CB8AC3E}">
        <p14:creationId xmlns:p14="http://schemas.microsoft.com/office/powerpoint/2010/main" val="1316017930"/>
      </p:ext>
    </p:extLst>
  </p:cSld>
</p:sld>
</file>

<file path=ppt/slides/slide2.xml><?xml version="1.0" encoding="utf-8"?>
<p:sld xmlns:p="http://schemas.openxmlformats.org/presentationml/2006/main">
  <p:cSld>
    <p:bg>
      <p:bgPr>
        <a:solidFill xmlns:a="http://schemas.openxmlformats.org/drawingml/2006/main">
          <a:srgbClr val="08111B"/>
        </a:solidFill>
      </p:bgPr>
    </p:bg>
    <p:spTree>
      <p:nvGrpSpPr>
        <p:cNvPr id="1" name=""/>
        <p:cNvGrpSpPr/>
        <p:nvPr/>
      </p:nvGrpSpPr>
      <p:grpSpPr>
        <a:xfrm xmlns:a="http://schemas.openxmlformats.org/drawingml/2006/main"/>
      </p:grpSpPr>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add48ae30e8e4130"/>
          <a:srcRect xmlns:a="http://schemas.openxmlformats.org/drawingml/2006/main" l="18" t="0" r="18" b="0"/>
          <a:stretch xmlns:a="http://schemas.openxmlformats.org/drawingml/2006/main">
            <a:fillRect l="0" t="0" r="0" b="0"/>
          </a:stretch>
        </p:blipFill>
        <p:spPr>
          <a:xfrm xmlns:a="http://schemas.openxmlformats.org/drawingml/2006/main">
            <a:off x="0" y="0"/>
            <a:ext cx="10287000" cy="12858750"/>
          </a:xfrm>
          <a:prstGeom xmlns:a="http://schemas.openxmlformats.org/drawingml/2006/main" prst="rect">
            <a:avLst/>
          </a:prstGeom>
        </p:spPr>
      </p:pic>
      <p:sp>
        <p:nvSpPr>
          <p:cNvPr id="2" name="image-readability-overlay">
            <a:extLst xmlns:a="http://schemas.openxmlformats.org/drawingml/2006/main">
              <a:ext uri="{FF2B5EF4-FFF2-40B4-BE49-F238E27FC236}">
                <a16:creationId xmlns:a16="http://schemas.microsoft.com/office/drawing/2014/main" id="{86352088-1FFB-4BB0-8045-92AE2270BA0A}"/>
              </a:ext>
            </a:extLst>
          </p:cNvPr>
          <p:cNvSpPr>
            <a:spLocks xmlns:a="http://schemas.openxmlformats.org/drawingml/2006/main" noGrp="1"/>
          </p:cNvSpPr>
          <p:nvPr/>
        </p:nvSpPr>
        <p:spPr>
          <a:xfrm xmlns:a="http://schemas.openxmlformats.org/drawingml/2006/main">
            <a:off x="0" y="0"/>
            <a:ext cx="10287000" cy="12858750"/>
          </a:xfrm>
          <a:prstGeom xmlns:a="http://schemas.openxmlformats.org/drawingml/2006/main" prst="rect">
            <a:avLst/>
          </a:prstGeom>
          <a:solidFill xmlns:a="http://schemas.openxmlformats.org/drawingml/2006/main">
            <a:srgbClr val="07111B">
              <a:alpha val="24000"/>
            </a:srgbClr>
          </a:solidFill>
          <a:ln xmlns:a="http://schemas.openxmlformats.org/drawingml/2006/main" w="0">
            <a:noFill/>
          </a:ln>
        </p:spPr>
      </p:sp>
      <p:sp>
        <p:nvSpPr>
          <p:cNvPr id="3" name="brand-accent">
            <a:extLst xmlns:a="http://schemas.openxmlformats.org/drawingml/2006/main">
              <a:ext uri="{FF2B5EF4-FFF2-40B4-BE49-F238E27FC236}">
                <a16:creationId xmlns:a16="http://schemas.microsoft.com/office/drawing/2014/main" id="{145B15C7-27B5-4FC8-A951-52DD24E08C7C}"/>
              </a:ext>
            </a:extLst>
          </p:cNvPr>
          <p:cNvSpPr>
            <a:spLocks xmlns:a="http://schemas.openxmlformats.org/drawingml/2006/main" noGrp="1"/>
          </p:cNvSpPr>
          <p:nvPr/>
        </p:nvSpPr>
        <p:spPr>
          <a:xfrm xmlns:a="http://schemas.openxmlformats.org/drawingml/2006/main">
            <a:off x="762000" y="647700"/>
            <a:ext cx="38100" cy="20955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4" name="brand">
            <a:extLst xmlns:a="http://schemas.openxmlformats.org/drawingml/2006/main">
              <a:ext uri="{FF2B5EF4-FFF2-40B4-BE49-F238E27FC236}">
                <a16:creationId xmlns:a16="http://schemas.microsoft.com/office/drawing/2014/main" id="{F6D60864-659F-4E2C-A9DC-75369D25B70C}"/>
              </a:ext>
            </a:extLst>
          </p:cNvPr>
          <p:cNvSpPr>
            <a:spLocks xmlns:a="http://schemas.openxmlformats.org/drawingml/2006/main" noGrp="1"/>
          </p:cNvSpPr>
          <p:nvPr/>
        </p:nvSpPr>
        <p:spPr>
          <a:xfrm xmlns:a="http://schemas.openxmlformats.org/drawingml/2006/main">
            <a:off x="933450" y="6381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C5CFDB"/>
                </a:solidFill>
                <a:latin typeface="Helvetica Neue"/>
                <a:ea typeface="Helvetica Neue"/>
                <a:cs typeface="Helvetica Neue"/>
              </a:defRPr>
            </a:pPr>
            <a:r>
              <a:rPr sz="1350" b="1">
                <a:solidFill>
                  <a:srgbClr val="C5CFDB"/>
                </a:solidFill>
                <a:latin typeface="Helvetica Neue"/>
                <a:ea typeface="Helvetica Neue"/>
                <a:cs typeface="Helvetica Neue"/>
              </a:rPr>
              <a:t>HEAV3NS  /  AGENT FLIGHT TEST</a:t>
            </a:r>
          </a:p>
        </p:txBody>
      </p:sp>
      <p:sp>
        <p:nvSpPr>
          <p:cNvPr id="5" name="page-number">
            <a:extLst xmlns:a="http://schemas.openxmlformats.org/drawingml/2006/main">
              <a:ext uri="{FF2B5EF4-FFF2-40B4-BE49-F238E27FC236}">
                <a16:creationId xmlns:a16="http://schemas.microsoft.com/office/drawing/2014/main" id="{77CE85BF-C88A-4501-AD9A-F67B81F4409E}"/>
              </a:ext>
            </a:extLst>
          </p:cNvPr>
          <p:cNvSpPr>
            <a:spLocks xmlns:a="http://schemas.openxmlformats.org/drawingml/2006/main" noGrp="1"/>
          </p:cNvSpPr>
          <p:nvPr/>
        </p:nvSpPr>
        <p:spPr>
          <a:xfrm xmlns:a="http://schemas.openxmlformats.org/drawingml/2006/main">
            <a:off x="8572500" y="12039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C5CFDB"/>
                </a:solidFill>
                <a:latin typeface="Helvetica Neue"/>
                <a:ea typeface="Helvetica Neue"/>
                <a:cs typeface="Helvetica Neue"/>
              </a:defRPr>
            </a:pPr>
            <a:r>
              <a:rPr sz="1350" b="0">
                <a:solidFill>
                  <a:srgbClr val="C5CFDB"/>
                </a:solidFill>
                <a:latin typeface="Helvetica Neue"/>
                <a:ea typeface="Helvetica Neue"/>
                <a:cs typeface="Helvetica Neue"/>
              </a:rPr>
              <a:t>02 / 07</a:t>
            </a:r>
          </a:p>
        </p:txBody>
      </p:sp>
      <p:sp>
        <p:nvSpPr>
          <p:cNvPr id="6" name="slide-title">
            <a:extLst xmlns:a="http://schemas.openxmlformats.org/drawingml/2006/main">
              <a:ext uri="{FF2B5EF4-FFF2-40B4-BE49-F238E27FC236}">
                <a16:creationId xmlns:a16="http://schemas.microsoft.com/office/drawing/2014/main" id="{7B1C2871-9711-449F-9E92-F6844B8748EF}"/>
              </a:ext>
            </a:extLst>
          </p:cNvPr>
          <p:cNvSpPr>
            <a:spLocks xmlns:a="http://schemas.openxmlformats.org/drawingml/2006/main" noGrp="1"/>
          </p:cNvSpPr>
          <p:nvPr/>
        </p:nvSpPr>
        <p:spPr>
          <a:xfrm xmlns:a="http://schemas.openxmlformats.org/drawingml/2006/main">
            <a:off x="762000" y="1476375"/>
            <a:ext cx="8667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675" b="1">
                <a:solidFill>
                  <a:srgbClr val="F5F7FA"/>
                </a:solidFill>
                <a:latin typeface="Helvetica Neue"/>
                <a:ea typeface="Helvetica Neue"/>
                <a:cs typeface="Helvetica Neue"/>
              </a:defRPr>
            </a:pPr>
            <a:r>
              <a:rPr sz="3675" b="1">
                <a:solidFill>
                  <a:srgbClr val="F5F7FA"/>
                </a:solidFill>
                <a:latin typeface="Helvetica Neue"/>
                <a:ea typeface="Helvetica Neue"/>
                <a:cs typeface="Helvetica Neue"/>
              </a:rPr>
              <a:t>Agent landscape · Sep 2026</a:t>
            </a:r>
          </a:p>
        </p:txBody>
      </p:sp>
      <p:sp>
        <p:nvSpPr>
          <p:cNvPr id="7" name="mission-metaphor">
            <a:extLst xmlns:a="http://schemas.openxmlformats.org/drawingml/2006/main">
              <a:ext uri="{FF2B5EF4-FFF2-40B4-BE49-F238E27FC236}">
                <a16:creationId xmlns:a16="http://schemas.microsoft.com/office/drawing/2014/main" id="{1310D133-EFC6-4CBD-A7EA-B71AE8DA7D95}"/>
              </a:ext>
            </a:extLst>
          </p:cNvPr>
          <p:cNvSpPr>
            <a:spLocks xmlns:a="http://schemas.openxmlformats.org/drawingml/2006/main" noGrp="1"/>
          </p:cNvSpPr>
          <p:nvPr/>
        </p:nvSpPr>
        <p:spPr>
          <a:xfrm xmlns:a="http://schemas.openxmlformats.org/drawingml/2006/main">
            <a:off x="781050" y="2714625"/>
            <a:ext cx="6381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1">
                <a:solidFill>
                  <a:srgbClr val="F5F7FA"/>
                </a:solidFill>
                <a:latin typeface="Helvetica Neue"/>
                <a:ea typeface="Helvetica Neue"/>
                <a:cs typeface="Helvetica Neue"/>
              </a:defRPr>
            </a:pPr>
            <a:r>
              <a:rPr sz="2250" b="1">
                <a:solidFill>
                  <a:srgbClr val="F5F7FA"/>
                </a:solidFill>
                <a:latin typeface="Helvetica Neue"/>
                <a:ea typeface="Helvetica Neue"/>
                <a:cs typeface="Helvetica Neue"/>
              </a:rPr>
              <a:t>LOCAL / IDE</a:t>
            </a:r>
          </a:p>
          <a:p xmlns:a="http://schemas.openxmlformats.org/drawingml/2006/main">
            <a:pPr algn="l">
              <a:lnSpc>
                <a:spcPct val="108000"/>
              </a:lnSpc>
              <a:buNone/>
              <a:defRPr sz="2250" b="1">
                <a:solidFill>
                  <a:srgbClr val="F5F7FA"/>
                </a:solidFill>
                <a:latin typeface="Helvetica Neue"/>
                <a:ea typeface="Helvetica Neue"/>
                <a:cs typeface="Helvetica Neue"/>
              </a:defRPr>
            </a:pPr>
            <a:r>
              <a:rPr sz="2250" b="1">
                <a:solidFill>
                  <a:srgbClr val="F5F7FA"/>
                </a:solidFill>
                <a:latin typeface="Helvetica Neue"/>
                <a:ea typeface="Helvetica Neue"/>
                <a:cs typeface="Helvetica Neue"/>
              </a:rPr>
              <a:t>HOSTED / ASYNC</a:t>
            </a:r>
          </a:p>
        </p:txBody>
      </p:sp>
      <p:sp>
        <p:nvSpPr>
          <p:cNvPr id="8" name="mission-accent">
            <a:extLst xmlns:a="http://schemas.openxmlformats.org/drawingml/2006/main">
              <a:ext uri="{FF2B5EF4-FFF2-40B4-BE49-F238E27FC236}">
                <a16:creationId xmlns:a16="http://schemas.microsoft.com/office/drawing/2014/main" id="{EF80EA5A-DB1A-40BA-9B91-5DE8211AE851}"/>
              </a:ext>
            </a:extLst>
          </p:cNvPr>
          <p:cNvSpPr>
            <a:spLocks xmlns:a="http://schemas.openxmlformats.org/drawingml/2006/main" noGrp="1"/>
          </p:cNvSpPr>
          <p:nvPr/>
        </p:nvSpPr>
        <p:spPr>
          <a:xfrm xmlns:a="http://schemas.openxmlformats.org/drawingml/2006/main">
            <a:off x="781050" y="4533900"/>
            <a:ext cx="47625" cy="104775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9" name="mission-copy">
            <a:extLst xmlns:a="http://schemas.openxmlformats.org/drawingml/2006/main">
              <a:ext uri="{FF2B5EF4-FFF2-40B4-BE49-F238E27FC236}">
                <a16:creationId xmlns:a16="http://schemas.microsoft.com/office/drawing/2014/main" id="{A354B4A1-CF54-4B0A-8408-5FB680B87950}"/>
              </a:ext>
            </a:extLst>
          </p:cNvPr>
          <p:cNvSpPr>
            <a:spLocks xmlns:a="http://schemas.openxmlformats.org/drawingml/2006/main" noGrp="1"/>
          </p:cNvSpPr>
          <p:nvPr/>
        </p:nvSpPr>
        <p:spPr>
          <a:xfrm xmlns:a="http://schemas.openxmlformats.org/drawingml/2006/main">
            <a:off x="1028700" y="4524375"/>
            <a:ext cx="4143375"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800" b="0">
                <a:solidFill>
                  <a:srgbClr val="F5F7FA"/>
                </a:solidFill>
                <a:latin typeface="Helvetica Neue"/>
                <a:ea typeface="Helvetica Neue"/>
                <a:cs typeface="Helvetica Neue"/>
              </a:defRPr>
            </a:pPr>
            <a:r>
              <a:rPr sz="1800" b="0">
                <a:solidFill>
                  <a:srgbClr val="F5F7FA"/>
                </a:solidFill>
                <a:latin typeface="Helvetica Neue"/>
                <a:ea typeface="Helvetica Neue"/>
                <a:cs typeface="Helvetica Neue"/>
              </a:rPr>
              <a:t>HEAV3NS is a local-first CLI harness for developer-led project work: inspect context, make a scoped change, verify it, then hand control back.</a:t>
            </a:r>
          </a:p>
        </p:txBody>
      </p:sp>
      <p:sp>
        <p:nvSpPr>
          <p:cNvPr id="10" name="metaphor-clarifier">
            <a:extLst xmlns:a="http://schemas.openxmlformats.org/drawingml/2006/main">
              <a:ext uri="{FF2B5EF4-FFF2-40B4-BE49-F238E27FC236}">
                <a16:creationId xmlns:a16="http://schemas.microsoft.com/office/drawing/2014/main" id="{071DBB13-A278-4808-932C-D4904A1B3A7A}"/>
              </a:ext>
            </a:extLst>
          </p:cNvPr>
          <p:cNvSpPr>
            <a:spLocks xmlns:a="http://schemas.openxmlformats.org/drawingml/2006/main" noGrp="1"/>
          </p:cNvSpPr>
          <p:nvPr/>
        </p:nvSpPr>
        <p:spPr>
          <a:xfrm xmlns:a="http://schemas.openxmlformats.org/drawingml/2006/main">
            <a:off x="1028700" y="719137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79DCEB"/>
                </a:solidFill>
                <a:latin typeface="Helvetica Neue"/>
                <a:ea typeface="Helvetica Neue"/>
                <a:cs typeface="Helvetica Neue"/>
              </a:defRPr>
            </a:pPr>
            <a:r>
              <a:rPr sz="1575" b="1">
                <a:solidFill>
                  <a:srgbClr val="79DCEB"/>
                </a:solidFill>
                <a:latin typeface="Helvetica Neue"/>
                <a:ea typeface="Helvetica Neue"/>
                <a:cs typeface="Helvetica Neue"/>
              </a:rPr>
              <a:t>Workflow map, not a capability ranking.</a:t>
            </a:r>
          </a:p>
        </p:txBody>
      </p:sp>
      <p:sp>
        <p:nvSpPr>
          <p:cNvPr id="11" name="sound-barrier-rule">
            <a:extLst xmlns:a="http://schemas.openxmlformats.org/drawingml/2006/main">
              <a:ext uri="{FF2B5EF4-FFF2-40B4-BE49-F238E27FC236}">
                <a16:creationId xmlns:a16="http://schemas.microsoft.com/office/drawing/2014/main" id="{843DF37C-753B-432E-A7EC-093C8DA87B0E}"/>
              </a:ext>
            </a:extLst>
          </p:cNvPr>
          <p:cNvSpPr>
            <a:spLocks xmlns:a="http://schemas.openxmlformats.org/drawingml/2006/main" noGrp="1"/>
          </p:cNvSpPr>
          <p:nvPr/>
        </p:nvSpPr>
        <p:spPr>
          <a:xfrm xmlns:a="http://schemas.openxmlformats.org/drawingml/2006/main">
            <a:off x="762000" y="8096250"/>
            <a:ext cx="762000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12" name="sound-barrier-copy">
            <a:extLst xmlns:a="http://schemas.openxmlformats.org/drawingml/2006/main">
              <a:ext uri="{FF2B5EF4-FFF2-40B4-BE49-F238E27FC236}">
                <a16:creationId xmlns:a16="http://schemas.microsoft.com/office/drawing/2014/main" id="{97799AE5-1D1C-48E6-AAA7-865EBBA180FF}"/>
              </a:ext>
            </a:extLst>
          </p:cNvPr>
          <p:cNvSpPr>
            <a:spLocks xmlns:a="http://schemas.openxmlformats.org/drawingml/2006/main" noGrp="1"/>
          </p:cNvSpPr>
          <p:nvPr/>
        </p:nvSpPr>
        <p:spPr>
          <a:xfrm xmlns:a="http://schemas.openxmlformats.org/drawingml/2006/main">
            <a:off x="781050" y="8524875"/>
            <a:ext cx="7715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8000"/>
              </a:lnSpc>
              <a:buNone/>
              <a:defRPr sz="1725" b="0">
                <a:solidFill>
                  <a:srgbClr val="C5CFDB"/>
                </a:solidFill>
                <a:latin typeface="Helvetica Neue"/>
                <a:ea typeface="Helvetica Neue"/>
                <a:cs typeface="Helvetica Neue"/>
              </a:defRPr>
            </a:pPr>
            <a:r>
              <a:rPr sz="1725" b="0">
                <a:solidFill>
                  <a:srgbClr val="C5CFDB"/>
                </a:solidFill>
                <a:latin typeface="Helvetica Neue"/>
                <a:ea typeface="Helvetica Neue"/>
                <a:cs typeface="Helvetica Neue"/>
              </a:rPr>
              <a:t>Snapshot: 22 Sep 2026. Local examples: Claude Code, Cursor Agent, Codex CLI and Copilot CLI. Hosted examples: Cursor Background Agents, Codex cloud and GitHub Copilot cloud agent. Surfaces overlap; compare completion, execution time and continuity under matched tasks—not model quality.</a:t>
            </a:r>
          </a:p>
        </p:txBody>
      </p:sp>
    </p:spTree>
    <p:extLst>
      <p:ext uri="{BB962C8B-B14F-4D97-AF65-F5344CB8AC3E}">
        <p14:creationId xmlns:p14="http://schemas.microsoft.com/office/powerpoint/2010/main" val="213030494"/>
      </p:ext>
    </p:extLst>
  </p:cSld>
</p:sld>
</file>

<file path=ppt/slides/slide3.xml><?xml version="1.0" encoding="utf-8"?>
<p:sld xmlns:p="http://schemas.openxmlformats.org/presentationml/2006/main">
  <p:cSld>
    <p:bg>
      <p:bgPr>
        <a:solidFill xmlns:a="http://schemas.openxmlformats.org/drawingml/2006/main">
          <a:srgbClr val="08111B"/>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d6768d9896c458b"/>
          <a:srcRect xmlns:a="http://schemas.openxmlformats.org/drawingml/2006/main" l="18" t="0" r="18" b="0"/>
          <a:stretch xmlns:a="http://schemas.openxmlformats.org/drawingml/2006/main">
            <a:fillRect l="0" t="0" r="0" b="0"/>
          </a:stretch>
        </p:blipFill>
        <p:spPr>
          <a:xfrm xmlns:a="http://schemas.openxmlformats.org/drawingml/2006/main">
            <a:off x="0" y="0"/>
            <a:ext cx="10287000" cy="12858750"/>
          </a:xfrm>
          <a:prstGeom xmlns:a="http://schemas.openxmlformats.org/drawingml/2006/main" prst="rect">
            <a:avLst/>
          </a:prstGeom>
        </p:spPr>
      </p:pic>
      <p:sp>
        <p:nvSpPr>
          <p:cNvPr id="2" name="brand-accent">
            <a:extLst xmlns:a="http://schemas.openxmlformats.org/drawingml/2006/main">
              <a:ext uri="{FF2B5EF4-FFF2-40B4-BE49-F238E27FC236}">
                <a16:creationId xmlns:a16="http://schemas.microsoft.com/office/drawing/2014/main" id="{194D2B38-9020-4A14-B60D-57CAFE0AF9A2}"/>
              </a:ext>
            </a:extLst>
          </p:cNvPr>
          <p:cNvSpPr>
            <a:spLocks xmlns:a="http://schemas.openxmlformats.org/drawingml/2006/main" noGrp="1"/>
          </p:cNvSpPr>
          <p:nvPr/>
        </p:nvSpPr>
        <p:spPr>
          <a:xfrm xmlns:a="http://schemas.openxmlformats.org/drawingml/2006/main">
            <a:off x="762000" y="647700"/>
            <a:ext cx="38100" cy="20955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3" name="brand">
            <a:extLst xmlns:a="http://schemas.openxmlformats.org/drawingml/2006/main">
              <a:ext uri="{FF2B5EF4-FFF2-40B4-BE49-F238E27FC236}">
                <a16:creationId xmlns:a16="http://schemas.microsoft.com/office/drawing/2014/main" id="{2CB76A6A-C8A2-4938-9B5C-5B52518C2233}"/>
              </a:ext>
            </a:extLst>
          </p:cNvPr>
          <p:cNvSpPr>
            <a:spLocks xmlns:a="http://schemas.openxmlformats.org/drawingml/2006/main" noGrp="1"/>
          </p:cNvSpPr>
          <p:nvPr/>
        </p:nvSpPr>
        <p:spPr>
          <a:xfrm xmlns:a="http://schemas.openxmlformats.org/drawingml/2006/main">
            <a:off x="933450" y="6381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C5CFDB"/>
                </a:solidFill>
                <a:latin typeface="Helvetica Neue"/>
                <a:ea typeface="Helvetica Neue"/>
                <a:cs typeface="Helvetica Neue"/>
              </a:defRPr>
            </a:pPr>
            <a:r>
              <a:rPr sz="1350" b="1">
                <a:solidFill>
                  <a:srgbClr val="C5CFDB"/>
                </a:solidFill>
                <a:latin typeface="Helvetica Neue"/>
                <a:ea typeface="Helvetica Neue"/>
                <a:cs typeface="Helvetica Neue"/>
              </a:rPr>
              <a:t>HEAV3NS  /  AGENT FLIGHT TEST</a:t>
            </a:r>
          </a:p>
        </p:txBody>
      </p:sp>
      <p:sp>
        <p:nvSpPr>
          <p:cNvPr id="4" name="page-number">
            <a:extLst xmlns:a="http://schemas.openxmlformats.org/drawingml/2006/main">
              <a:ext uri="{FF2B5EF4-FFF2-40B4-BE49-F238E27FC236}">
                <a16:creationId xmlns:a16="http://schemas.microsoft.com/office/drawing/2014/main" id="{F5101B44-F258-4884-A1FE-A0082BB43567}"/>
              </a:ext>
            </a:extLst>
          </p:cNvPr>
          <p:cNvSpPr>
            <a:spLocks xmlns:a="http://schemas.openxmlformats.org/drawingml/2006/main" noGrp="1"/>
          </p:cNvSpPr>
          <p:nvPr/>
        </p:nvSpPr>
        <p:spPr>
          <a:xfrm xmlns:a="http://schemas.openxmlformats.org/drawingml/2006/main">
            <a:off x="8572500" y="12039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C5CFDB"/>
                </a:solidFill>
                <a:latin typeface="Helvetica Neue"/>
                <a:ea typeface="Helvetica Neue"/>
                <a:cs typeface="Helvetica Neue"/>
              </a:defRPr>
            </a:pPr>
            <a:r>
              <a:rPr sz="1350" b="0">
                <a:solidFill>
                  <a:srgbClr val="C5CFDB"/>
                </a:solidFill>
                <a:latin typeface="Helvetica Neue"/>
                <a:ea typeface="Helvetica Neue"/>
                <a:cs typeface="Helvetica Neue"/>
              </a:rPr>
              <a:t>03 / 07</a:t>
            </a:r>
          </a:p>
        </p:txBody>
      </p:sp>
      <p:sp>
        <p:nvSpPr>
          <p:cNvPr id="5" name="slide-title">
            <a:extLst xmlns:a="http://schemas.openxmlformats.org/drawingml/2006/main">
              <a:ext uri="{FF2B5EF4-FFF2-40B4-BE49-F238E27FC236}">
                <a16:creationId xmlns:a16="http://schemas.microsoft.com/office/drawing/2014/main" id="{A3B1B509-F67A-47F8-AB47-E355010346F0}"/>
              </a:ext>
            </a:extLst>
          </p:cNvPr>
          <p:cNvSpPr>
            <a:spLocks xmlns:a="http://schemas.openxmlformats.org/drawingml/2006/main" noGrp="1"/>
          </p:cNvSpPr>
          <p:nvPr/>
        </p:nvSpPr>
        <p:spPr>
          <a:xfrm xmlns:a="http://schemas.openxmlformats.org/drawingml/2006/main">
            <a:off x="762000" y="14763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F5F7FA"/>
                </a:solidFill>
                <a:latin typeface="Helvetica Neue"/>
                <a:ea typeface="Helvetica Neue"/>
                <a:cs typeface="Helvetica Neue"/>
              </a:defRPr>
            </a:pPr>
            <a:r>
              <a:rPr sz="3900" b="1">
                <a:solidFill>
                  <a:srgbClr val="F5F7FA"/>
                </a:solidFill>
                <a:latin typeface="Helvetica Neue"/>
                <a:ea typeface="Helvetica Neue"/>
                <a:cs typeface="Helvetica Neue"/>
              </a:rPr>
              <a:t>Five harness contracts</a:t>
            </a:r>
          </a:p>
        </p:txBody>
      </p:sp>
      <p:sp>
        <p:nvSpPr>
          <p:cNvPr id="6" name="slide-subtitle">
            <a:extLst xmlns:a="http://schemas.openxmlformats.org/drawingml/2006/main">
              <a:ext uri="{FF2B5EF4-FFF2-40B4-BE49-F238E27FC236}">
                <a16:creationId xmlns:a16="http://schemas.microsoft.com/office/drawing/2014/main" id="{7F52DED9-0DAF-455B-B523-C30F4593530A}"/>
              </a:ext>
            </a:extLst>
          </p:cNvPr>
          <p:cNvSpPr>
            <a:spLocks xmlns:a="http://schemas.openxmlformats.org/drawingml/2006/main" noGrp="1"/>
          </p:cNvSpPr>
          <p:nvPr/>
        </p:nvSpPr>
        <p:spPr>
          <a:xfrm xmlns:a="http://schemas.openxmlformats.org/drawingml/2006/main">
            <a:off x="781050" y="22383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C5CFDB"/>
                </a:solidFill>
                <a:latin typeface="Helvetica Neue"/>
                <a:ea typeface="Helvetica Neue"/>
                <a:cs typeface="Helvetica Neue"/>
              </a:defRPr>
            </a:pPr>
            <a:r>
              <a:rPr sz="1725" b="0">
                <a:solidFill>
                  <a:srgbClr val="C5CFDB"/>
                </a:solidFill>
                <a:latin typeface="Helvetica Neue"/>
                <a:ea typeface="Helvetica Neue"/>
                <a:cs typeface="Helvetica Neue"/>
              </a:rPr>
              <a:t>Observed run: all five passed; per-scenario check counts shown</a:t>
            </a:r>
          </a:p>
        </p:txBody>
      </p:sp>
      <p:sp>
        <p:nvSpPr>
          <p:cNvPr id="7" name="scenario-accent-0">
            <a:extLst xmlns:a="http://schemas.openxmlformats.org/drawingml/2006/main">
              <a:ext uri="{FF2B5EF4-FFF2-40B4-BE49-F238E27FC236}">
                <a16:creationId xmlns:a16="http://schemas.microsoft.com/office/drawing/2014/main" id="{ABC42607-3B32-4F89-878E-F31EC9572A33}"/>
              </a:ext>
            </a:extLst>
          </p:cNvPr>
          <p:cNvSpPr>
            <a:spLocks xmlns:a="http://schemas.openxmlformats.org/drawingml/2006/main" noGrp="1"/>
          </p:cNvSpPr>
          <p:nvPr/>
        </p:nvSpPr>
        <p:spPr>
          <a:xfrm xmlns:a="http://schemas.openxmlformats.org/drawingml/2006/main">
            <a:off x="781050" y="31623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8" name="scenario-id-0">
            <a:extLst xmlns:a="http://schemas.openxmlformats.org/drawingml/2006/main">
              <a:ext uri="{FF2B5EF4-FFF2-40B4-BE49-F238E27FC236}">
                <a16:creationId xmlns:a16="http://schemas.microsoft.com/office/drawing/2014/main" id="{A4576631-FA83-434E-9FF2-6F3D7B443A87}"/>
              </a:ext>
            </a:extLst>
          </p:cNvPr>
          <p:cNvSpPr>
            <a:spLocks xmlns:a="http://schemas.openxmlformats.org/drawingml/2006/main" noGrp="1"/>
          </p:cNvSpPr>
          <p:nvPr/>
        </p:nvSpPr>
        <p:spPr>
          <a:xfrm xmlns:a="http://schemas.openxmlformats.org/drawingml/2006/main">
            <a:off x="1028700" y="31242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FT-01</a:t>
            </a:r>
          </a:p>
        </p:txBody>
      </p:sp>
      <p:sp>
        <p:nvSpPr>
          <p:cNvPr id="9" name="scenario-label-0">
            <a:extLst xmlns:a="http://schemas.openxmlformats.org/drawingml/2006/main">
              <a:ext uri="{FF2B5EF4-FFF2-40B4-BE49-F238E27FC236}">
                <a16:creationId xmlns:a16="http://schemas.microsoft.com/office/drawing/2014/main" id="{B3858961-A397-4006-A57B-C6D9CEFB01FA}"/>
              </a:ext>
            </a:extLst>
          </p:cNvPr>
          <p:cNvSpPr>
            <a:spLocks xmlns:a="http://schemas.openxmlformats.org/drawingml/2006/main" noGrp="1"/>
          </p:cNvSpPr>
          <p:nvPr/>
        </p:nvSpPr>
        <p:spPr>
          <a:xfrm xmlns:a="http://schemas.openxmlformats.org/drawingml/2006/main">
            <a:off x="2000250" y="31146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CONTEXT READBACK</a:t>
            </a:r>
          </a:p>
        </p:txBody>
      </p:sp>
      <p:sp>
        <p:nvSpPr>
          <p:cNvPr id="10" name="scenario-detail-0">
            <a:extLst xmlns:a="http://schemas.openxmlformats.org/drawingml/2006/main">
              <a:ext uri="{FF2B5EF4-FFF2-40B4-BE49-F238E27FC236}">
                <a16:creationId xmlns:a16="http://schemas.microsoft.com/office/drawing/2014/main" id="{575589AA-A197-461A-891A-C68C96FCFA51}"/>
              </a:ext>
            </a:extLst>
          </p:cNvPr>
          <p:cNvSpPr>
            <a:spLocks xmlns:a="http://schemas.openxmlformats.org/drawingml/2006/main" noGrp="1"/>
          </p:cNvSpPr>
          <p:nvPr/>
        </p:nvSpPr>
        <p:spPr>
          <a:xfrm xmlns:a="http://schemas.openxmlformats.org/drawingml/2006/main">
            <a:off x="2000250" y="35052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5/5 checks passed · read result reaches the next decision and answer.</a:t>
            </a:r>
          </a:p>
        </p:txBody>
      </p:sp>
      <p:sp>
        <p:nvSpPr>
          <p:cNvPr id="11" name="scenario-rule-0">
            <a:extLst xmlns:a="http://schemas.openxmlformats.org/drawingml/2006/main">
              <a:ext uri="{FF2B5EF4-FFF2-40B4-BE49-F238E27FC236}">
                <a16:creationId xmlns:a16="http://schemas.microsoft.com/office/drawing/2014/main" id="{1C7DFB6B-149E-4989-9563-B9C3DA2A629F}"/>
              </a:ext>
            </a:extLst>
          </p:cNvPr>
          <p:cNvSpPr>
            <a:spLocks xmlns:a="http://schemas.openxmlformats.org/drawingml/2006/main" noGrp="1"/>
          </p:cNvSpPr>
          <p:nvPr/>
        </p:nvSpPr>
        <p:spPr>
          <a:xfrm xmlns:a="http://schemas.openxmlformats.org/drawingml/2006/main">
            <a:off x="762000" y="42291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12" name="scenario-accent-1">
            <a:extLst xmlns:a="http://schemas.openxmlformats.org/drawingml/2006/main">
              <a:ext uri="{FF2B5EF4-FFF2-40B4-BE49-F238E27FC236}">
                <a16:creationId xmlns:a16="http://schemas.microsoft.com/office/drawing/2014/main" id="{EC91D26A-99B0-4BB2-A8A7-E3AEB37432EB}"/>
              </a:ext>
            </a:extLst>
          </p:cNvPr>
          <p:cNvSpPr>
            <a:spLocks xmlns:a="http://schemas.openxmlformats.org/drawingml/2006/main" noGrp="1"/>
          </p:cNvSpPr>
          <p:nvPr/>
        </p:nvSpPr>
        <p:spPr>
          <a:xfrm xmlns:a="http://schemas.openxmlformats.org/drawingml/2006/main">
            <a:off x="781050" y="45339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13" name="scenario-id-1">
            <a:extLst xmlns:a="http://schemas.openxmlformats.org/drawingml/2006/main">
              <a:ext uri="{FF2B5EF4-FFF2-40B4-BE49-F238E27FC236}">
                <a16:creationId xmlns:a16="http://schemas.microsoft.com/office/drawing/2014/main" id="{B1D43E6D-73A7-4186-A9CC-20235CA1B0F7}"/>
              </a:ext>
            </a:extLst>
          </p:cNvPr>
          <p:cNvSpPr>
            <a:spLocks xmlns:a="http://schemas.openxmlformats.org/drawingml/2006/main" noGrp="1"/>
          </p:cNvSpPr>
          <p:nvPr/>
        </p:nvSpPr>
        <p:spPr>
          <a:xfrm xmlns:a="http://schemas.openxmlformats.org/drawingml/2006/main">
            <a:off x="1028700" y="44958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FT-02</a:t>
            </a:r>
          </a:p>
        </p:txBody>
      </p:sp>
      <p:sp>
        <p:nvSpPr>
          <p:cNvPr id="14" name="scenario-label-1">
            <a:extLst xmlns:a="http://schemas.openxmlformats.org/drawingml/2006/main">
              <a:ext uri="{FF2B5EF4-FFF2-40B4-BE49-F238E27FC236}">
                <a16:creationId xmlns:a16="http://schemas.microsoft.com/office/drawing/2014/main" id="{3D93AB21-5B65-4DE4-A032-261757CF9742}"/>
              </a:ext>
            </a:extLst>
          </p:cNvPr>
          <p:cNvSpPr>
            <a:spLocks xmlns:a="http://schemas.openxmlformats.org/drawingml/2006/main" noGrp="1"/>
          </p:cNvSpPr>
          <p:nvPr/>
        </p:nvSpPr>
        <p:spPr>
          <a:xfrm xmlns:a="http://schemas.openxmlformats.org/drawingml/2006/main">
            <a:off x="2000250" y="44862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EDIT + REREAD</a:t>
            </a:r>
          </a:p>
        </p:txBody>
      </p:sp>
      <p:sp>
        <p:nvSpPr>
          <p:cNvPr id="15" name="scenario-detail-1">
            <a:extLst xmlns:a="http://schemas.openxmlformats.org/drawingml/2006/main">
              <a:ext uri="{FF2B5EF4-FFF2-40B4-BE49-F238E27FC236}">
                <a16:creationId xmlns:a16="http://schemas.microsoft.com/office/drawing/2014/main" id="{63295A0A-2F3B-4FC0-9FE4-DA149F31F0E5}"/>
              </a:ext>
            </a:extLst>
          </p:cNvPr>
          <p:cNvSpPr>
            <a:spLocks xmlns:a="http://schemas.openxmlformats.org/drawingml/2006/main" noGrp="1"/>
          </p:cNvSpPr>
          <p:nvPr/>
        </p:nvSpPr>
        <p:spPr>
          <a:xfrm xmlns:a="http://schemas.openxmlformats.org/drawingml/2006/main">
            <a:off x="2000250" y="48768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6/6 checks passed · scoped edit persists and is reread from disk.</a:t>
            </a:r>
          </a:p>
        </p:txBody>
      </p:sp>
      <p:sp>
        <p:nvSpPr>
          <p:cNvPr id="16" name="scenario-rule-1">
            <a:extLst xmlns:a="http://schemas.openxmlformats.org/drawingml/2006/main">
              <a:ext uri="{FF2B5EF4-FFF2-40B4-BE49-F238E27FC236}">
                <a16:creationId xmlns:a16="http://schemas.microsoft.com/office/drawing/2014/main" id="{A0F10D19-F500-4EBE-AF2B-7C758C2F77EE}"/>
              </a:ext>
            </a:extLst>
          </p:cNvPr>
          <p:cNvSpPr>
            <a:spLocks xmlns:a="http://schemas.openxmlformats.org/drawingml/2006/main" noGrp="1"/>
          </p:cNvSpPr>
          <p:nvPr/>
        </p:nvSpPr>
        <p:spPr>
          <a:xfrm xmlns:a="http://schemas.openxmlformats.org/drawingml/2006/main">
            <a:off x="762000" y="56007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17" name="scenario-accent-2">
            <a:extLst xmlns:a="http://schemas.openxmlformats.org/drawingml/2006/main">
              <a:ext uri="{FF2B5EF4-FFF2-40B4-BE49-F238E27FC236}">
                <a16:creationId xmlns:a16="http://schemas.microsoft.com/office/drawing/2014/main" id="{267A77C5-220C-43FB-ABCD-A9BEED67AF22}"/>
              </a:ext>
            </a:extLst>
          </p:cNvPr>
          <p:cNvSpPr>
            <a:spLocks xmlns:a="http://schemas.openxmlformats.org/drawingml/2006/main" noGrp="1"/>
          </p:cNvSpPr>
          <p:nvPr/>
        </p:nvSpPr>
        <p:spPr>
          <a:xfrm xmlns:a="http://schemas.openxmlformats.org/drawingml/2006/main">
            <a:off x="781050" y="59055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18" name="scenario-id-2">
            <a:extLst xmlns:a="http://schemas.openxmlformats.org/drawingml/2006/main">
              <a:ext uri="{FF2B5EF4-FFF2-40B4-BE49-F238E27FC236}">
                <a16:creationId xmlns:a16="http://schemas.microsoft.com/office/drawing/2014/main" id="{446340AD-BCD4-4592-9BC1-909A29630997}"/>
              </a:ext>
            </a:extLst>
          </p:cNvPr>
          <p:cNvSpPr>
            <a:spLocks xmlns:a="http://schemas.openxmlformats.org/drawingml/2006/main" noGrp="1"/>
          </p:cNvSpPr>
          <p:nvPr/>
        </p:nvSpPr>
        <p:spPr>
          <a:xfrm xmlns:a="http://schemas.openxmlformats.org/drawingml/2006/main">
            <a:off x="1028700" y="5867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FT-03</a:t>
            </a:r>
          </a:p>
        </p:txBody>
      </p:sp>
      <p:sp>
        <p:nvSpPr>
          <p:cNvPr id="19" name="scenario-label-2">
            <a:extLst xmlns:a="http://schemas.openxmlformats.org/drawingml/2006/main">
              <a:ext uri="{FF2B5EF4-FFF2-40B4-BE49-F238E27FC236}">
                <a16:creationId xmlns:a16="http://schemas.microsoft.com/office/drawing/2014/main" id="{451FC828-E6E2-440C-9DDD-54F05D7A83D6}"/>
              </a:ext>
            </a:extLst>
          </p:cNvPr>
          <p:cNvSpPr>
            <a:spLocks xmlns:a="http://schemas.openxmlformats.org/drawingml/2006/main" noGrp="1"/>
          </p:cNvSpPr>
          <p:nvPr/>
        </p:nvSpPr>
        <p:spPr>
          <a:xfrm xmlns:a="http://schemas.openxmlformats.org/drawingml/2006/main">
            <a:off x="2000250" y="58578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INVALID-ARGUMENT RECOVERY</a:t>
            </a:r>
          </a:p>
        </p:txBody>
      </p:sp>
      <p:sp>
        <p:nvSpPr>
          <p:cNvPr id="20" name="scenario-detail-2">
            <a:extLst xmlns:a="http://schemas.openxmlformats.org/drawingml/2006/main">
              <a:ext uri="{FF2B5EF4-FFF2-40B4-BE49-F238E27FC236}">
                <a16:creationId xmlns:a16="http://schemas.microsoft.com/office/drawing/2014/main" id="{38CB7547-5CA7-4CCF-BB3E-354F26D51491}"/>
              </a:ext>
            </a:extLst>
          </p:cNvPr>
          <p:cNvSpPr>
            <a:spLocks xmlns:a="http://schemas.openxmlformats.org/drawingml/2006/main" noGrp="1"/>
          </p:cNvSpPr>
          <p:nvPr/>
        </p:nvSpPr>
        <p:spPr>
          <a:xfrm xmlns:a="http://schemas.openxmlformats.org/drawingml/2006/main">
            <a:off x="2000250" y="62484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4/4 checks passed · invalid arguments are rejected; valid call recovers.</a:t>
            </a:r>
          </a:p>
        </p:txBody>
      </p:sp>
      <p:sp>
        <p:nvSpPr>
          <p:cNvPr id="21" name="scenario-rule-2">
            <a:extLst xmlns:a="http://schemas.openxmlformats.org/drawingml/2006/main">
              <a:ext uri="{FF2B5EF4-FFF2-40B4-BE49-F238E27FC236}">
                <a16:creationId xmlns:a16="http://schemas.microsoft.com/office/drawing/2014/main" id="{5134E055-B61F-4F42-8E6F-373601EDB6BD}"/>
              </a:ext>
            </a:extLst>
          </p:cNvPr>
          <p:cNvSpPr>
            <a:spLocks xmlns:a="http://schemas.openxmlformats.org/drawingml/2006/main" noGrp="1"/>
          </p:cNvSpPr>
          <p:nvPr/>
        </p:nvSpPr>
        <p:spPr>
          <a:xfrm xmlns:a="http://schemas.openxmlformats.org/drawingml/2006/main">
            <a:off x="762000" y="69723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22" name="scenario-accent-3">
            <a:extLst xmlns:a="http://schemas.openxmlformats.org/drawingml/2006/main">
              <a:ext uri="{FF2B5EF4-FFF2-40B4-BE49-F238E27FC236}">
                <a16:creationId xmlns:a16="http://schemas.microsoft.com/office/drawing/2014/main" id="{D0AC0345-DDEA-4674-98D6-E573B46851C8}"/>
              </a:ext>
            </a:extLst>
          </p:cNvPr>
          <p:cNvSpPr>
            <a:spLocks xmlns:a="http://schemas.openxmlformats.org/drawingml/2006/main" noGrp="1"/>
          </p:cNvSpPr>
          <p:nvPr/>
        </p:nvSpPr>
        <p:spPr>
          <a:xfrm xmlns:a="http://schemas.openxmlformats.org/drawingml/2006/main">
            <a:off x="781050" y="72771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23" name="scenario-id-3">
            <a:extLst xmlns:a="http://schemas.openxmlformats.org/drawingml/2006/main">
              <a:ext uri="{FF2B5EF4-FFF2-40B4-BE49-F238E27FC236}">
                <a16:creationId xmlns:a16="http://schemas.microsoft.com/office/drawing/2014/main" id="{965C90DC-7E36-4391-96AD-2FB72BFEA976}"/>
              </a:ext>
            </a:extLst>
          </p:cNvPr>
          <p:cNvSpPr>
            <a:spLocks xmlns:a="http://schemas.openxmlformats.org/drawingml/2006/main" noGrp="1"/>
          </p:cNvSpPr>
          <p:nvPr/>
        </p:nvSpPr>
        <p:spPr>
          <a:xfrm xmlns:a="http://schemas.openxmlformats.org/drawingml/2006/main">
            <a:off x="1028700" y="72390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FT-04</a:t>
            </a:r>
          </a:p>
        </p:txBody>
      </p:sp>
      <p:sp>
        <p:nvSpPr>
          <p:cNvPr id="24" name="scenario-label-3">
            <a:extLst xmlns:a="http://schemas.openxmlformats.org/drawingml/2006/main">
              <a:ext uri="{FF2B5EF4-FFF2-40B4-BE49-F238E27FC236}">
                <a16:creationId xmlns:a16="http://schemas.microsoft.com/office/drawing/2014/main" id="{33EE1601-B6A6-47A2-8591-2C22F45C352B}"/>
              </a:ext>
            </a:extLst>
          </p:cNvPr>
          <p:cNvSpPr>
            <a:spLocks xmlns:a="http://schemas.openxmlformats.org/drawingml/2006/main" noGrp="1"/>
          </p:cNvSpPr>
          <p:nvPr/>
        </p:nvSpPr>
        <p:spPr>
          <a:xfrm xmlns:a="http://schemas.openxmlformats.org/drawingml/2006/main">
            <a:off x="2000250" y="72294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HTTP 503 RETRY</a:t>
            </a:r>
          </a:p>
        </p:txBody>
      </p:sp>
      <p:sp>
        <p:nvSpPr>
          <p:cNvPr id="25" name="scenario-detail-3">
            <a:extLst xmlns:a="http://schemas.openxmlformats.org/drawingml/2006/main">
              <a:ext uri="{FF2B5EF4-FFF2-40B4-BE49-F238E27FC236}">
                <a16:creationId xmlns:a16="http://schemas.microsoft.com/office/drawing/2014/main" id="{7ED6F529-01CC-475D-B4E7-473CAF3B91EF}"/>
              </a:ext>
            </a:extLst>
          </p:cNvPr>
          <p:cNvSpPr>
            <a:spLocks xmlns:a="http://schemas.openxmlformats.org/drawingml/2006/main" noGrp="1"/>
          </p:cNvSpPr>
          <p:nvPr/>
        </p:nvSpPr>
        <p:spPr>
          <a:xfrm xmlns:a="http://schemas.openxmlformats.org/drawingml/2006/main">
            <a:off x="2000250" y="76200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4/4 checks passed · one transient provider failure recovers on retry.</a:t>
            </a:r>
          </a:p>
        </p:txBody>
      </p:sp>
      <p:sp>
        <p:nvSpPr>
          <p:cNvPr id="26" name="scenario-rule-3">
            <a:extLst xmlns:a="http://schemas.openxmlformats.org/drawingml/2006/main">
              <a:ext uri="{FF2B5EF4-FFF2-40B4-BE49-F238E27FC236}">
                <a16:creationId xmlns:a16="http://schemas.microsoft.com/office/drawing/2014/main" id="{D227192C-DD6B-48DD-BE03-6B7C87E69DA3}"/>
              </a:ext>
            </a:extLst>
          </p:cNvPr>
          <p:cNvSpPr>
            <a:spLocks xmlns:a="http://schemas.openxmlformats.org/drawingml/2006/main" noGrp="1"/>
          </p:cNvSpPr>
          <p:nvPr/>
        </p:nvSpPr>
        <p:spPr>
          <a:xfrm xmlns:a="http://schemas.openxmlformats.org/drawingml/2006/main">
            <a:off x="762000" y="83439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27" name="scenario-accent-4">
            <a:extLst xmlns:a="http://schemas.openxmlformats.org/drawingml/2006/main">
              <a:ext uri="{FF2B5EF4-FFF2-40B4-BE49-F238E27FC236}">
                <a16:creationId xmlns:a16="http://schemas.microsoft.com/office/drawing/2014/main" id="{6C9050DC-7E4A-4C65-8BF8-04FA75316F19}"/>
              </a:ext>
            </a:extLst>
          </p:cNvPr>
          <p:cNvSpPr>
            <a:spLocks xmlns:a="http://schemas.openxmlformats.org/drawingml/2006/main" noGrp="1"/>
          </p:cNvSpPr>
          <p:nvPr/>
        </p:nvSpPr>
        <p:spPr>
          <a:xfrm xmlns:a="http://schemas.openxmlformats.org/drawingml/2006/main">
            <a:off x="781050" y="8648700"/>
            <a:ext cx="47625" cy="800100"/>
          </a:xfrm>
          <a:prstGeom xmlns:a="http://schemas.openxmlformats.org/drawingml/2006/main" prst="rect">
            <a:avLst/>
          </a:prstGeom>
          <a:solidFill xmlns:a="http://schemas.openxmlformats.org/drawingml/2006/main">
            <a:srgbClr val="79DCEB"/>
          </a:solidFill>
          <a:ln xmlns:a="http://schemas.openxmlformats.org/drawingml/2006/main" w="0">
            <a:noFill/>
          </a:ln>
        </p:spPr>
      </p:sp>
      <p:sp>
        <p:nvSpPr>
          <p:cNvPr id="28" name="scenario-id-4">
            <a:extLst xmlns:a="http://schemas.openxmlformats.org/drawingml/2006/main">
              <a:ext uri="{FF2B5EF4-FFF2-40B4-BE49-F238E27FC236}">
                <a16:creationId xmlns:a16="http://schemas.microsoft.com/office/drawing/2014/main" id="{7454F320-EF77-4C18-89AD-BF32604EB14F}"/>
              </a:ext>
            </a:extLst>
          </p:cNvPr>
          <p:cNvSpPr>
            <a:spLocks xmlns:a="http://schemas.openxmlformats.org/drawingml/2006/main" noGrp="1"/>
          </p:cNvSpPr>
          <p:nvPr/>
        </p:nvSpPr>
        <p:spPr>
          <a:xfrm xmlns:a="http://schemas.openxmlformats.org/drawingml/2006/main">
            <a:off x="1028700" y="8610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FT-05</a:t>
            </a:r>
          </a:p>
        </p:txBody>
      </p:sp>
      <p:sp>
        <p:nvSpPr>
          <p:cNvPr id="29" name="scenario-label-4">
            <a:extLst xmlns:a="http://schemas.openxmlformats.org/drawingml/2006/main">
              <a:ext uri="{FF2B5EF4-FFF2-40B4-BE49-F238E27FC236}">
                <a16:creationId xmlns:a16="http://schemas.microsoft.com/office/drawing/2014/main" id="{6D2BC4E9-3BFE-4C27-BDB2-0FC29FCA064F}"/>
              </a:ext>
            </a:extLst>
          </p:cNvPr>
          <p:cNvSpPr>
            <a:spLocks xmlns:a="http://schemas.openxmlformats.org/drawingml/2006/main" noGrp="1"/>
          </p:cNvSpPr>
          <p:nvPr/>
        </p:nvSpPr>
        <p:spPr>
          <a:xfrm xmlns:a="http://schemas.openxmlformats.org/drawingml/2006/main">
            <a:off x="2000250" y="86010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IN-FLIGHT CANCELLATION</a:t>
            </a:r>
          </a:p>
        </p:txBody>
      </p:sp>
      <p:sp>
        <p:nvSpPr>
          <p:cNvPr id="30" name="scenario-detail-4">
            <a:extLst xmlns:a="http://schemas.openxmlformats.org/drawingml/2006/main">
              <a:ext uri="{FF2B5EF4-FFF2-40B4-BE49-F238E27FC236}">
                <a16:creationId xmlns:a16="http://schemas.microsoft.com/office/drawing/2014/main" id="{3A0C4A91-A723-4C40-928A-117771035210}"/>
              </a:ext>
            </a:extLst>
          </p:cNvPr>
          <p:cNvSpPr>
            <a:spLocks xmlns:a="http://schemas.openxmlformats.org/drawingml/2006/main" noGrp="1"/>
          </p:cNvSpPr>
          <p:nvPr/>
        </p:nvSpPr>
        <p:spPr>
          <a:xfrm xmlns:a="http://schemas.openxmlformats.org/drawingml/2006/main">
            <a:off x="2000250" y="89916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5/5 checks passed · cancellation ends without a false success terminal.</a:t>
            </a:r>
          </a:p>
        </p:txBody>
      </p:sp>
      <p:sp>
        <p:nvSpPr>
          <p:cNvPr id="31" name="scenario-footnote">
            <a:extLst xmlns:a="http://schemas.openxmlformats.org/drawingml/2006/main">
              <a:ext uri="{FF2B5EF4-FFF2-40B4-BE49-F238E27FC236}">
                <a16:creationId xmlns:a16="http://schemas.microsoft.com/office/drawing/2014/main" id="{51AAF585-B92B-42CD-8A80-842828145275}"/>
              </a:ext>
            </a:extLst>
          </p:cNvPr>
          <p:cNvSpPr>
            <a:spLocks xmlns:a="http://schemas.openxmlformats.org/drawingml/2006/main" noGrp="1"/>
          </p:cNvSpPr>
          <p:nvPr/>
        </p:nvSpPr>
        <p:spPr>
          <a:xfrm xmlns:a="http://schemas.openxmlformats.org/drawingml/2006/main">
            <a:off x="781050" y="10334625"/>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99A8B9"/>
                </a:solidFill>
                <a:latin typeface="Helvetica Neue"/>
                <a:ea typeface="Helvetica Neue"/>
                <a:cs typeface="Helvetica Neue"/>
              </a:defRPr>
            </a:pPr>
            <a:r>
              <a:rPr sz="1575" b="1">
                <a:solidFill>
                  <a:srgbClr val="99A8B9"/>
                </a:solidFill>
                <a:latin typeface="Helvetica Neue"/>
                <a:ea typeface="Helvetica Neue"/>
                <a:cs typeface="Helvetica Neue"/>
              </a:rPr>
              <a:t>5/5 scenario gate passed. Durations are diagnostic, not task speed.</a:t>
            </a:r>
          </a:p>
        </p:txBody>
      </p:sp>
    </p:spTree>
    <p:extLst>
      <p:ext uri="{BB962C8B-B14F-4D97-AF65-F5344CB8AC3E}">
        <p14:creationId xmlns:p14="http://schemas.microsoft.com/office/powerpoint/2010/main" val="1168241678"/>
      </p:ext>
    </p:extLst>
  </p:cSld>
</p:sld>
</file>

<file path=ppt/slides/slide4.xml><?xml version="1.0" encoding="utf-8"?>
<p:sld xmlns:p="http://schemas.openxmlformats.org/presentationml/2006/main">
  <p:cSld>
    <p:bg>
      <p:bgPr>
        <a:solidFill xmlns:a="http://schemas.openxmlformats.org/drawingml/2006/main">
          <a:srgbClr val="08111B"/>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6a9cf265fe147fb"/>
          <a:srcRect xmlns:a="http://schemas.openxmlformats.org/drawingml/2006/main" l="18" t="0" r="18" b="0"/>
          <a:stretch xmlns:a="http://schemas.openxmlformats.org/drawingml/2006/main">
            <a:fillRect l="0" t="0" r="0" b="0"/>
          </a:stretch>
        </p:blipFill>
        <p:spPr>
          <a:xfrm xmlns:a="http://schemas.openxmlformats.org/drawingml/2006/main">
            <a:off x="0" y="0"/>
            <a:ext cx="10287000" cy="12858750"/>
          </a:xfrm>
          <a:prstGeom xmlns:a="http://schemas.openxmlformats.org/drawingml/2006/main" prst="rect">
            <a:avLst/>
          </a:prstGeom>
        </p:spPr>
      </p:pic>
      <p:sp>
        <p:nvSpPr>
          <p:cNvPr id="2" name="image-readability-overlay">
            <a:extLst xmlns:a="http://schemas.openxmlformats.org/drawingml/2006/main">
              <a:ext uri="{FF2B5EF4-FFF2-40B4-BE49-F238E27FC236}">
                <a16:creationId xmlns:a16="http://schemas.microsoft.com/office/drawing/2014/main" id="{A218F435-F87D-4D93-8AB4-24C5A045DE44}"/>
              </a:ext>
            </a:extLst>
          </p:cNvPr>
          <p:cNvSpPr>
            <a:spLocks xmlns:a="http://schemas.openxmlformats.org/drawingml/2006/main" noGrp="1"/>
          </p:cNvSpPr>
          <p:nvPr/>
        </p:nvSpPr>
        <p:spPr>
          <a:xfrm xmlns:a="http://schemas.openxmlformats.org/drawingml/2006/main">
            <a:off x="0" y="0"/>
            <a:ext cx="10287000" cy="12858750"/>
          </a:xfrm>
          <a:prstGeom xmlns:a="http://schemas.openxmlformats.org/drawingml/2006/main" prst="rect">
            <a:avLst/>
          </a:prstGeom>
          <a:solidFill xmlns:a="http://schemas.openxmlformats.org/drawingml/2006/main">
            <a:srgbClr val="07111B">
              <a:alpha val="30000"/>
            </a:srgbClr>
          </a:solidFill>
          <a:ln xmlns:a="http://schemas.openxmlformats.org/drawingml/2006/main" w="0">
            <a:noFill/>
          </a:ln>
        </p:spPr>
      </p:sp>
      <p:sp>
        <p:nvSpPr>
          <p:cNvPr id="3" name="brand-accent">
            <a:extLst xmlns:a="http://schemas.openxmlformats.org/drawingml/2006/main">
              <a:ext uri="{FF2B5EF4-FFF2-40B4-BE49-F238E27FC236}">
                <a16:creationId xmlns:a16="http://schemas.microsoft.com/office/drawing/2014/main" id="{305006DF-5F69-469A-877F-1E8BDEFACD68}"/>
              </a:ext>
            </a:extLst>
          </p:cNvPr>
          <p:cNvSpPr>
            <a:spLocks xmlns:a="http://schemas.openxmlformats.org/drawingml/2006/main" noGrp="1"/>
          </p:cNvSpPr>
          <p:nvPr/>
        </p:nvSpPr>
        <p:spPr>
          <a:xfrm xmlns:a="http://schemas.openxmlformats.org/drawingml/2006/main">
            <a:off x="762000" y="647700"/>
            <a:ext cx="38100" cy="20955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4" name="brand">
            <a:extLst xmlns:a="http://schemas.openxmlformats.org/drawingml/2006/main">
              <a:ext uri="{FF2B5EF4-FFF2-40B4-BE49-F238E27FC236}">
                <a16:creationId xmlns:a16="http://schemas.microsoft.com/office/drawing/2014/main" id="{98D45F99-7ED2-4AA3-B472-9FE7D90799A0}"/>
              </a:ext>
            </a:extLst>
          </p:cNvPr>
          <p:cNvSpPr>
            <a:spLocks xmlns:a="http://schemas.openxmlformats.org/drawingml/2006/main" noGrp="1"/>
          </p:cNvSpPr>
          <p:nvPr/>
        </p:nvSpPr>
        <p:spPr>
          <a:xfrm xmlns:a="http://schemas.openxmlformats.org/drawingml/2006/main">
            <a:off x="933450" y="6381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C5CFDB"/>
                </a:solidFill>
                <a:latin typeface="Helvetica Neue"/>
                <a:ea typeface="Helvetica Neue"/>
                <a:cs typeface="Helvetica Neue"/>
              </a:defRPr>
            </a:pPr>
            <a:r>
              <a:rPr sz="1350" b="1">
                <a:solidFill>
                  <a:srgbClr val="C5CFDB"/>
                </a:solidFill>
                <a:latin typeface="Helvetica Neue"/>
                <a:ea typeface="Helvetica Neue"/>
                <a:cs typeface="Helvetica Neue"/>
              </a:rPr>
              <a:t>HEAV3NS  /  AGENT FLIGHT TEST</a:t>
            </a:r>
          </a:p>
        </p:txBody>
      </p:sp>
      <p:sp>
        <p:nvSpPr>
          <p:cNvPr id="5" name="page-number">
            <a:extLst xmlns:a="http://schemas.openxmlformats.org/drawingml/2006/main">
              <a:ext uri="{FF2B5EF4-FFF2-40B4-BE49-F238E27FC236}">
                <a16:creationId xmlns:a16="http://schemas.microsoft.com/office/drawing/2014/main" id="{C3D9A0DB-B2A4-47DC-9ECD-D05AC9BDA5AB}"/>
              </a:ext>
            </a:extLst>
          </p:cNvPr>
          <p:cNvSpPr>
            <a:spLocks xmlns:a="http://schemas.openxmlformats.org/drawingml/2006/main" noGrp="1"/>
          </p:cNvSpPr>
          <p:nvPr/>
        </p:nvSpPr>
        <p:spPr>
          <a:xfrm xmlns:a="http://schemas.openxmlformats.org/drawingml/2006/main">
            <a:off x="8572500" y="12039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C5CFDB"/>
                </a:solidFill>
                <a:latin typeface="Helvetica Neue"/>
                <a:ea typeface="Helvetica Neue"/>
                <a:cs typeface="Helvetica Neue"/>
              </a:defRPr>
            </a:pPr>
            <a:r>
              <a:rPr sz="1350" b="0">
                <a:solidFill>
                  <a:srgbClr val="C5CFDB"/>
                </a:solidFill>
                <a:latin typeface="Helvetica Neue"/>
                <a:ea typeface="Helvetica Neue"/>
                <a:cs typeface="Helvetica Neue"/>
              </a:rPr>
              <a:t>04 / 07</a:t>
            </a:r>
          </a:p>
        </p:txBody>
      </p:sp>
      <p:sp>
        <p:nvSpPr>
          <p:cNvPr id="6" name="slide-title">
            <a:extLst xmlns:a="http://schemas.openxmlformats.org/drawingml/2006/main">
              <a:ext uri="{FF2B5EF4-FFF2-40B4-BE49-F238E27FC236}">
                <a16:creationId xmlns:a16="http://schemas.microsoft.com/office/drawing/2014/main" id="{8789BE0A-A915-4888-B2F7-B99ADCD510D7}"/>
              </a:ext>
            </a:extLst>
          </p:cNvPr>
          <p:cNvSpPr>
            <a:spLocks xmlns:a="http://schemas.openxmlformats.org/drawingml/2006/main" noGrp="1"/>
          </p:cNvSpPr>
          <p:nvPr/>
        </p:nvSpPr>
        <p:spPr>
          <a:xfrm xmlns:a="http://schemas.openxmlformats.org/drawingml/2006/main">
            <a:off x="762000" y="1476375"/>
            <a:ext cx="8096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F5F7FA"/>
                </a:solidFill>
                <a:latin typeface="Helvetica Neue"/>
                <a:ea typeface="Helvetica Neue"/>
                <a:cs typeface="Helvetica Neue"/>
              </a:defRPr>
            </a:pPr>
            <a:r>
              <a:rPr sz="3900" b="1">
                <a:solidFill>
                  <a:srgbClr val="F5F7FA"/>
                </a:solidFill>
                <a:latin typeface="Helvetica Neue"/>
                <a:ea typeface="Helvetica Neue"/>
                <a:cs typeface="Helvetica Neue"/>
              </a:rPr>
              <a:t>Current baseline · v0.3.0</a:t>
            </a:r>
          </a:p>
        </p:txBody>
      </p:sp>
      <p:sp>
        <p:nvSpPr>
          <p:cNvPr id="7" name="pass-definition">
            <a:extLst xmlns:a="http://schemas.openxmlformats.org/drawingml/2006/main">
              <a:ext uri="{FF2B5EF4-FFF2-40B4-BE49-F238E27FC236}">
                <a16:creationId xmlns:a16="http://schemas.microsoft.com/office/drawing/2014/main" id="{820124F6-1C97-4334-ACCE-F3F6DB8D4E39}"/>
              </a:ext>
            </a:extLst>
          </p:cNvPr>
          <p:cNvSpPr>
            <a:spLocks xmlns:a="http://schemas.openxmlformats.org/drawingml/2006/main" noGrp="1"/>
          </p:cNvSpPr>
          <p:nvPr/>
        </p:nvSpPr>
        <p:spPr>
          <a:xfrm xmlns:a="http://schemas.openxmlformats.org/drawingml/2006/main">
            <a:off x="781050" y="2333625"/>
            <a:ext cx="8382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250" b="1">
                <a:solidFill>
                  <a:srgbClr val="F5F7FA"/>
                </a:solidFill>
                <a:latin typeface="Helvetica Neue"/>
                <a:ea typeface="Helvetica Neue"/>
                <a:cs typeface="Helvetica Neue"/>
              </a:defRPr>
            </a:pPr>
            <a:r>
              <a:rPr sz="2250" b="1">
                <a:solidFill>
                  <a:srgbClr val="F5F7FA"/>
                </a:solidFill>
                <a:latin typeface="Helvetica Neue"/>
                <a:ea typeface="Helvetica Neue"/>
                <a:cs typeface="Helvetica Neue"/>
              </a:rPr>
              <a:t>Run 22 Sep 2026 · Node v26.8.1 · macOS arm64</a:t>
            </a:r>
          </a:p>
        </p:txBody>
      </p:sp>
      <p:sp>
        <p:nvSpPr>
          <p:cNvPr id="8" name="evidence-label-0">
            <a:extLst xmlns:a="http://schemas.openxmlformats.org/drawingml/2006/main">
              <a:ext uri="{FF2B5EF4-FFF2-40B4-BE49-F238E27FC236}">
                <a16:creationId xmlns:a16="http://schemas.microsoft.com/office/drawing/2014/main" id="{080A3EAF-1A57-46DD-85F2-CD5AD75153C0}"/>
              </a:ext>
            </a:extLst>
          </p:cNvPr>
          <p:cNvSpPr>
            <a:spLocks xmlns:a="http://schemas.openxmlformats.org/drawingml/2006/main" noGrp="1"/>
          </p:cNvSpPr>
          <p:nvPr/>
        </p:nvSpPr>
        <p:spPr>
          <a:xfrm xmlns:a="http://schemas.openxmlformats.org/drawingml/2006/main">
            <a:off x="781050" y="36671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SCENARIO GATE</a:t>
            </a:r>
          </a:p>
        </p:txBody>
      </p:sp>
      <p:sp>
        <p:nvSpPr>
          <p:cNvPr id="9" name="evidence-detail-0">
            <a:extLst xmlns:a="http://schemas.openxmlformats.org/drawingml/2006/main">
              <a:ext uri="{FF2B5EF4-FFF2-40B4-BE49-F238E27FC236}">
                <a16:creationId xmlns:a16="http://schemas.microsoft.com/office/drawing/2014/main" id="{B45EF3A9-579F-4C21-AD59-313551738BD8}"/>
              </a:ext>
            </a:extLst>
          </p:cNvPr>
          <p:cNvSpPr>
            <a:spLocks xmlns:a="http://schemas.openxmlformats.org/drawingml/2006/main" noGrp="1"/>
          </p:cNvSpPr>
          <p:nvPr/>
        </p:nvSpPr>
        <p:spPr>
          <a:xfrm xmlns:a="http://schemas.openxmlformats.org/drawingml/2006/main">
            <a:off x="781050" y="3990975"/>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F5F7FA"/>
                </a:solidFill>
                <a:latin typeface="Helvetica Neue"/>
                <a:ea typeface="Helvetica Neue"/>
                <a:cs typeface="Helvetica Neue"/>
              </a:defRPr>
            </a:pPr>
            <a:r>
              <a:rPr sz="1725" b="0">
                <a:solidFill>
                  <a:srgbClr val="F5F7FA"/>
                </a:solidFill>
                <a:latin typeface="Helvetica Neue"/>
                <a:ea typeface="Helvetica Neue"/>
                <a:cs typeface="Helvetica Neue"/>
              </a:rPr>
              <a:t>5 of 5 harness-conformance scenarios passed.</a:t>
            </a:r>
          </a:p>
        </p:txBody>
      </p:sp>
      <p:sp>
        <p:nvSpPr>
          <p:cNvPr id="10" name="evidence-rule-0">
            <a:extLst xmlns:a="http://schemas.openxmlformats.org/drawingml/2006/main">
              <a:ext uri="{FF2B5EF4-FFF2-40B4-BE49-F238E27FC236}">
                <a16:creationId xmlns:a16="http://schemas.microsoft.com/office/drawing/2014/main" id="{30E279F2-A073-42AB-9D94-EFE3C004CCB2}"/>
              </a:ext>
            </a:extLst>
          </p:cNvPr>
          <p:cNvSpPr>
            <a:spLocks xmlns:a="http://schemas.openxmlformats.org/drawingml/2006/main" noGrp="1"/>
          </p:cNvSpPr>
          <p:nvPr/>
        </p:nvSpPr>
        <p:spPr>
          <a:xfrm xmlns:a="http://schemas.openxmlformats.org/drawingml/2006/main">
            <a:off x="762000" y="4733925"/>
            <a:ext cx="79057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11" name="evidence-label-1">
            <a:extLst xmlns:a="http://schemas.openxmlformats.org/drawingml/2006/main">
              <a:ext uri="{FF2B5EF4-FFF2-40B4-BE49-F238E27FC236}">
                <a16:creationId xmlns:a16="http://schemas.microsoft.com/office/drawing/2014/main" id="{4F78553F-FB4E-47F3-8CEB-45C36A8E3C74}"/>
              </a:ext>
            </a:extLst>
          </p:cNvPr>
          <p:cNvSpPr>
            <a:spLocks xmlns:a="http://schemas.openxmlformats.org/drawingml/2006/main" noGrp="1"/>
          </p:cNvSpPr>
          <p:nvPr/>
        </p:nvSpPr>
        <p:spPr>
          <a:xfrm xmlns:a="http://schemas.openxmlformats.org/drawingml/2006/main">
            <a:off x="781050" y="49244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ASSERTION CHECKS</a:t>
            </a:r>
          </a:p>
        </p:txBody>
      </p:sp>
      <p:sp>
        <p:nvSpPr>
          <p:cNvPr id="12" name="evidence-detail-1">
            <a:extLst xmlns:a="http://schemas.openxmlformats.org/drawingml/2006/main">
              <a:ext uri="{FF2B5EF4-FFF2-40B4-BE49-F238E27FC236}">
                <a16:creationId xmlns:a16="http://schemas.microsoft.com/office/drawing/2014/main" id="{BF2B7C02-A365-4553-B069-4065C8D070D5}"/>
              </a:ext>
            </a:extLst>
          </p:cNvPr>
          <p:cNvSpPr>
            <a:spLocks xmlns:a="http://schemas.openxmlformats.org/drawingml/2006/main" noGrp="1"/>
          </p:cNvSpPr>
          <p:nvPr/>
        </p:nvSpPr>
        <p:spPr>
          <a:xfrm xmlns:a="http://schemas.openxmlformats.org/drawingml/2006/main">
            <a:off x="781050" y="5248275"/>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F5F7FA"/>
                </a:solidFill>
                <a:latin typeface="Helvetica Neue"/>
                <a:ea typeface="Helvetica Neue"/>
                <a:cs typeface="Helvetica Neue"/>
              </a:defRPr>
            </a:pPr>
            <a:r>
              <a:rPr sz="1725" b="0">
                <a:solidFill>
                  <a:srgbClr val="F5F7FA"/>
                </a:solidFill>
                <a:latin typeface="Helvetica Neue"/>
                <a:ea typeface="Helvetica Neue"/>
                <a:cs typeface="Helvetica Neue"/>
              </a:rPr>
              <a:t>24 of 24 checks passed (5 + 6 + 4 + 4 + 5); diagnostic count, not a weighted score.</a:t>
            </a:r>
          </a:p>
        </p:txBody>
      </p:sp>
      <p:sp>
        <p:nvSpPr>
          <p:cNvPr id="13" name="evidence-rule-1">
            <a:extLst xmlns:a="http://schemas.openxmlformats.org/drawingml/2006/main">
              <a:ext uri="{FF2B5EF4-FFF2-40B4-BE49-F238E27FC236}">
                <a16:creationId xmlns:a16="http://schemas.microsoft.com/office/drawing/2014/main" id="{8F0C8F80-AF73-4F34-B652-36E30BACB356}"/>
              </a:ext>
            </a:extLst>
          </p:cNvPr>
          <p:cNvSpPr>
            <a:spLocks xmlns:a="http://schemas.openxmlformats.org/drawingml/2006/main" noGrp="1"/>
          </p:cNvSpPr>
          <p:nvPr/>
        </p:nvSpPr>
        <p:spPr>
          <a:xfrm xmlns:a="http://schemas.openxmlformats.org/drawingml/2006/main">
            <a:off x="762000" y="5991225"/>
            <a:ext cx="79057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14" name="evidence-label-2">
            <a:extLst xmlns:a="http://schemas.openxmlformats.org/drawingml/2006/main">
              <a:ext uri="{FF2B5EF4-FFF2-40B4-BE49-F238E27FC236}">
                <a16:creationId xmlns:a16="http://schemas.microsoft.com/office/drawing/2014/main" id="{77C26BF6-CD6E-416C-8A47-2A4FC49DB91E}"/>
              </a:ext>
            </a:extLst>
          </p:cNvPr>
          <p:cNvSpPr>
            <a:spLocks xmlns:a="http://schemas.openxmlformats.org/drawingml/2006/main" noGrp="1"/>
          </p:cNvSpPr>
          <p:nvPr/>
        </p:nvSpPr>
        <p:spPr>
          <a:xfrm xmlns:a="http://schemas.openxmlformats.org/drawingml/2006/main">
            <a:off x="781050" y="61817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RUNNER TIME</a:t>
            </a:r>
          </a:p>
        </p:txBody>
      </p:sp>
      <p:sp>
        <p:nvSpPr>
          <p:cNvPr id="15" name="evidence-detail-2">
            <a:extLst xmlns:a="http://schemas.openxmlformats.org/drawingml/2006/main">
              <a:ext uri="{FF2B5EF4-FFF2-40B4-BE49-F238E27FC236}">
                <a16:creationId xmlns:a16="http://schemas.microsoft.com/office/drawing/2014/main" id="{3A395E1D-D8EC-4378-9529-78D434163211}"/>
              </a:ext>
            </a:extLst>
          </p:cNvPr>
          <p:cNvSpPr>
            <a:spLocks xmlns:a="http://schemas.openxmlformats.org/drawingml/2006/main" noGrp="1"/>
          </p:cNvSpPr>
          <p:nvPr/>
        </p:nvSpPr>
        <p:spPr>
          <a:xfrm xmlns:a="http://schemas.openxmlformats.org/drawingml/2006/main">
            <a:off x="781050" y="6505575"/>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F5F7FA"/>
                </a:solidFill>
                <a:latin typeface="Helvetica Neue"/>
                <a:ea typeface="Helvetica Neue"/>
                <a:cs typeface="Helvetica Neue"/>
              </a:defRPr>
            </a:pPr>
            <a:r>
              <a:rPr sz="1725" b="0">
                <a:solidFill>
                  <a:srgbClr val="F5F7FA"/>
                </a:solidFill>
                <a:latin typeface="Helvetica Neue"/>
                <a:ea typeface="Helvetica Neue"/>
                <a:cs typeface="Helvetica Neue"/>
              </a:rPr>
              <a:t>279 ms observed with a local scripted fixture; not agent task latency.</a:t>
            </a:r>
          </a:p>
        </p:txBody>
      </p:sp>
      <p:sp>
        <p:nvSpPr>
          <p:cNvPr id="16" name="evidence-rule-2">
            <a:extLst xmlns:a="http://schemas.openxmlformats.org/drawingml/2006/main">
              <a:ext uri="{FF2B5EF4-FFF2-40B4-BE49-F238E27FC236}">
                <a16:creationId xmlns:a16="http://schemas.microsoft.com/office/drawing/2014/main" id="{72983C65-F7F0-4825-ABB2-C567085F9A1E}"/>
              </a:ext>
            </a:extLst>
          </p:cNvPr>
          <p:cNvSpPr>
            <a:spLocks xmlns:a="http://schemas.openxmlformats.org/drawingml/2006/main" noGrp="1"/>
          </p:cNvSpPr>
          <p:nvPr/>
        </p:nvSpPr>
        <p:spPr>
          <a:xfrm xmlns:a="http://schemas.openxmlformats.org/drawingml/2006/main">
            <a:off x="762000" y="7248525"/>
            <a:ext cx="79057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17" name="evidence-label-3">
            <a:extLst xmlns:a="http://schemas.openxmlformats.org/drawingml/2006/main">
              <a:ext uri="{FF2B5EF4-FFF2-40B4-BE49-F238E27FC236}">
                <a16:creationId xmlns:a16="http://schemas.microsoft.com/office/drawing/2014/main" id="{757F02FC-249D-4C96-BF83-AB88FD1D9EDA}"/>
              </a:ext>
            </a:extLst>
          </p:cNvPr>
          <p:cNvSpPr>
            <a:spLocks xmlns:a="http://schemas.openxmlformats.org/drawingml/2006/main" noGrp="1"/>
          </p:cNvSpPr>
          <p:nvPr/>
        </p:nvSpPr>
        <p:spPr>
          <a:xfrm xmlns:a="http://schemas.openxmlformats.org/drawingml/2006/main">
            <a:off x="781050" y="7439025"/>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TEST TARGET</a:t>
            </a:r>
          </a:p>
        </p:txBody>
      </p:sp>
      <p:sp>
        <p:nvSpPr>
          <p:cNvPr id="18" name="evidence-detail-3">
            <a:extLst xmlns:a="http://schemas.openxmlformats.org/drawingml/2006/main">
              <a:ext uri="{FF2B5EF4-FFF2-40B4-BE49-F238E27FC236}">
                <a16:creationId xmlns:a16="http://schemas.microsoft.com/office/drawing/2014/main" id="{AA045BBB-B27F-41B8-B864-E0F5EAC64C8D}"/>
              </a:ext>
            </a:extLst>
          </p:cNvPr>
          <p:cNvSpPr>
            <a:spLocks xmlns:a="http://schemas.openxmlformats.org/drawingml/2006/main" noGrp="1"/>
          </p:cNvSpPr>
          <p:nvPr/>
        </p:nvSpPr>
        <p:spPr>
          <a:xfrm xmlns:a="http://schemas.openxmlformats.org/drawingml/2006/main">
            <a:off x="781050" y="7762875"/>
            <a:ext cx="666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F5F7FA"/>
                </a:solidFill>
                <a:latin typeface="Helvetica Neue"/>
                <a:ea typeface="Helvetica Neue"/>
                <a:cs typeface="Helvetica Neue"/>
              </a:defRPr>
            </a:pPr>
            <a:r>
              <a:rPr sz="1725" b="0">
                <a:solidFill>
                  <a:srgbClr val="F5F7FA"/>
                </a:solidFill>
                <a:latin typeface="Helvetica Neue"/>
                <a:ea typeface="Helvetica Neue"/>
                <a:cs typeface="Helvetica Neue"/>
              </a:rPr>
              <a:t>Real AgentEngine, workspace tools and scheduler; no live model/API request.</a:t>
            </a:r>
          </a:p>
        </p:txBody>
      </p:sp>
      <p:sp>
        <p:nvSpPr>
          <p:cNvPr id="19" name="scope-rule">
            <a:extLst xmlns:a="http://schemas.openxmlformats.org/drawingml/2006/main">
              <a:ext uri="{FF2B5EF4-FFF2-40B4-BE49-F238E27FC236}">
                <a16:creationId xmlns:a16="http://schemas.microsoft.com/office/drawing/2014/main" id="{C8F4FFDC-AF04-4E36-AC7E-08CC30005184}"/>
              </a:ext>
            </a:extLst>
          </p:cNvPr>
          <p:cNvSpPr>
            <a:spLocks xmlns:a="http://schemas.openxmlformats.org/drawingml/2006/main" noGrp="1"/>
          </p:cNvSpPr>
          <p:nvPr/>
        </p:nvSpPr>
        <p:spPr>
          <a:xfrm xmlns:a="http://schemas.openxmlformats.org/drawingml/2006/main">
            <a:off x="781050" y="9144000"/>
            <a:ext cx="457200" cy="38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20" name="scope-disclosure">
            <a:extLst xmlns:a="http://schemas.openxmlformats.org/drawingml/2006/main">
              <a:ext uri="{FF2B5EF4-FFF2-40B4-BE49-F238E27FC236}">
                <a16:creationId xmlns:a16="http://schemas.microsoft.com/office/drawing/2014/main" id="{4D5105C5-B5F7-40DE-9D04-616450B26EF0}"/>
              </a:ext>
            </a:extLst>
          </p:cNvPr>
          <p:cNvSpPr>
            <a:spLocks xmlns:a="http://schemas.openxmlformats.org/drawingml/2006/main" noGrp="1"/>
          </p:cNvSpPr>
          <p:nvPr/>
        </p:nvSpPr>
        <p:spPr>
          <a:xfrm xmlns:a="http://schemas.openxmlformats.org/drawingml/2006/main">
            <a:off x="781050" y="9439275"/>
            <a:ext cx="80962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This run proves selected harness contracts only. It does not rank task completion or agent speed. The project-scale comparison is proposed, not yet measured.</a:t>
            </a:r>
          </a:p>
        </p:txBody>
      </p:sp>
    </p:spTree>
    <p:extLst>
      <p:ext uri="{BB962C8B-B14F-4D97-AF65-F5344CB8AC3E}">
        <p14:creationId xmlns:p14="http://schemas.microsoft.com/office/powerpoint/2010/main" val="436733094"/>
      </p:ext>
    </p:extLst>
  </p:cSld>
</p:sld>
</file>

<file path=ppt/slides/slide5.xml><?xml version="1.0" encoding="utf-8"?>
<p:sld xmlns:p="http://schemas.openxmlformats.org/presentationml/2006/main">
  <p:cSld>
    <p:bg>
      <p:bgPr>
        <a:solidFill xmlns:a="http://schemas.openxmlformats.org/drawingml/2006/main">
          <a:srgbClr val="08111B"/>
        </a:solidFill>
      </p:bgPr>
    </p:bg>
    <p:spTree>
      <p:nvGrpSpPr>
        <p:cNvPr id="1" name=""/>
        <p:cNvGrpSpPr/>
        <p:nvPr/>
      </p:nvGrpSpPr>
      <p:grpSpPr>
        <a:xfrm xmlns:a="http://schemas.openxmlformats.org/drawingml/2006/main"/>
      </p:grpSpPr>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0351197a88684365"/>
          <a:srcRect xmlns:a="http://schemas.openxmlformats.org/drawingml/2006/main" l="18" t="0" r="18" b="0"/>
          <a:stretch xmlns:a="http://schemas.openxmlformats.org/drawingml/2006/main">
            <a:fillRect l="0" t="0" r="0" b="0"/>
          </a:stretch>
        </p:blipFill>
        <p:spPr>
          <a:xfrm xmlns:a="http://schemas.openxmlformats.org/drawingml/2006/main">
            <a:off x="0" y="0"/>
            <a:ext cx="10287000" cy="12858750"/>
          </a:xfrm>
          <a:prstGeom xmlns:a="http://schemas.openxmlformats.org/drawingml/2006/main" prst="rect">
            <a:avLst/>
          </a:prstGeom>
        </p:spPr>
      </p:pic>
      <p:sp>
        <p:nvSpPr>
          <p:cNvPr id="2" name="brand-accent">
            <a:extLst xmlns:a="http://schemas.openxmlformats.org/drawingml/2006/main">
              <a:ext uri="{FF2B5EF4-FFF2-40B4-BE49-F238E27FC236}">
                <a16:creationId xmlns:a16="http://schemas.microsoft.com/office/drawing/2014/main" id="{3CB59BB7-9B19-46FC-A0DA-CDD419209E23}"/>
              </a:ext>
            </a:extLst>
          </p:cNvPr>
          <p:cNvSpPr>
            <a:spLocks xmlns:a="http://schemas.openxmlformats.org/drawingml/2006/main" noGrp="1"/>
          </p:cNvSpPr>
          <p:nvPr/>
        </p:nvSpPr>
        <p:spPr>
          <a:xfrm xmlns:a="http://schemas.openxmlformats.org/drawingml/2006/main">
            <a:off x="762000" y="647700"/>
            <a:ext cx="38100" cy="20955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3" name="brand">
            <a:extLst xmlns:a="http://schemas.openxmlformats.org/drawingml/2006/main">
              <a:ext uri="{FF2B5EF4-FFF2-40B4-BE49-F238E27FC236}">
                <a16:creationId xmlns:a16="http://schemas.microsoft.com/office/drawing/2014/main" id="{1C4A74CF-FBC1-43A4-8901-68BE420AA7A3}"/>
              </a:ext>
            </a:extLst>
          </p:cNvPr>
          <p:cNvSpPr>
            <a:spLocks xmlns:a="http://schemas.openxmlformats.org/drawingml/2006/main" noGrp="1"/>
          </p:cNvSpPr>
          <p:nvPr/>
        </p:nvSpPr>
        <p:spPr>
          <a:xfrm xmlns:a="http://schemas.openxmlformats.org/drawingml/2006/main">
            <a:off x="933450" y="6381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C5CFDB"/>
                </a:solidFill>
                <a:latin typeface="Helvetica Neue"/>
                <a:ea typeface="Helvetica Neue"/>
                <a:cs typeface="Helvetica Neue"/>
              </a:defRPr>
            </a:pPr>
            <a:r>
              <a:rPr sz="1350" b="1">
                <a:solidFill>
                  <a:srgbClr val="C5CFDB"/>
                </a:solidFill>
                <a:latin typeface="Helvetica Neue"/>
                <a:ea typeface="Helvetica Neue"/>
                <a:cs typeface="Helvetica Neue"/>
              </a:rPr>
              <a:t>HEAV3NS  /  AGENT FLIGHT TEST</a:t>
            </a:r>
          </a:p>
        </p:txBody>
      </p:sp>
      <p:sp>
        <p:nvSpPr>
          <p:cNvPr id="4" name="page-number">
            <a:extLst xmlns:a="http://schemas.openxmlformats.org/drawingml/2006/main">
              <a:ext uri="{FF2B5EF4-FFF2-40B4-BE49-F238E27FC236}">
                <a16:creationId xmlns:a16="http://schemas.microsoft.com/office/drawing/2014/main" id="{15786FB7-74BF-4678-996F-220509F83125}"/>
              </a:ext>
            </a:extLst>
          </p:cNvPr>
          <p:cNvSpPr>
            <a:spLocks xmlns:a="http://schemas.openxmlformats.org/drawingml/2006/main" noGrp="1"/>
          </p:cNvSpPr>
          <p:nvPr/>
        </p:nvSpPr>
        <p:spPr>
          <a:xfrm xmlns:a="http://schemas.openxmlformats.org/drawingml/2006/main">
            <a:off x="8572500" y="12039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C5CFDB"/>
                </a:solidFill>
                <a:latin typeface="Helvetica Neue"/>
                <a:ea typeface="Helvetica Neue"/>
                <a:cs typeface="Helvetica Neue"/>
              </a:defRPr>
            </a:pPr>
            <a:r>
              <a:rPr sz="1350" b="0">
                <a:solidFill>
                  <a:srgbClr val="C5CFDB"/>
                </a:solidFill>
                <a:latin typeface="Helvetica Neue"/>
                <a:ea typeface="Helvetica Neue"/>
                <a:cs typeface="Helvetica Neue"/>
              </a:rPr>
              <a:t>07 / 07</a:t>
            </a:r>
          </a:p>
        </p:txBody>
      </p:sp>
      <p:sp>
        <p:nvSpPr>
          <p:cNvPr id="5" name="slide-title">
            <a:extLst xmlns:a="http://schemas.openxmlformats.org/drawingml/2006/main">
              <a:ext uri="{FF2B5EF4-FFF2-40B4-BE49-F238E27FC236}">
                <a16:creationId xmlns:a16="http://schemas.microsoft.com/office/drawing/2014/main" id="{EFB46114-7AF1-43E5-937C-6E384E363810}"/>
              </a:ext>
            </a:extLst>
          </p:cNvPr>
          <p:cNvSpPr>
            <a:spLocks xmlns:a="http://schemas.openxmlformats.org/drawingml/2006/main" noGrp="1"/>
          </p:cNvSpPr>
          <p:nvPr/>
        </p:nvSpPr>
        <p:spPr>
          <a:xfrm xmlns:a="http://schemas.openxmlformats.org/drawingml/2006/main">
            <a:off x="762000" y="1666875"/>
            <a:ext cx="781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4050" b="1">
                <a:solidFill>
                  <a:srgbClr val="F5F7FA"/>
                </a:solidFill>
                <a:latin typeface="Helvetica Neue"/>
                <a:ea typeface="Helvetica Neue"/>
                <a:cs typeface="Helvetica Neue"/>
              </a:defRPr>
            </a:pPr>
            <a:r>
              <a:rPr sz="4050" b="1">
                <a:solidFill>
                  <a:srgbClr val="F5F7FA"/>
                </a:solidFill>
                <a:latin typeface="Helvetica Neue"/>
                <a:ea typeface="Helvetica Neue"/>
                <a:cs typeface="Helvetica Neue"/>
              </a:rPr>
              <a:t>Run it in your repo</a:t>
            </a:r>
          </a:p>
        </p:txBody>
      </p:sp>
      <p:sp>
        <p:nvSpPr>
          <p:cNvPr id="6" name="prerequisite">
            <a:extLst xmlns:a="http://schemas.openxmlformats.org/drawingml/2006/main">
              <a:ext uri="{FF2B5EF4-FFF2-40B4-BE49-F238E27FC236}">
                <a16:creationId xmlns:a16="http://schemas.microsoft.com/office/drawing/2014/main" id="{3E89CDC2-865F-41DB-9E37-F75CA5D3AAAC}"/>
              </a:ext>
            </a:extLst>
          </p:cNvPr>
          <p:cNvSpPr>
            <a:spLocks xmlns:a="http://schemas.openxmlformats.org/drawingml/2006/main" noGrp="1"/>
          </p:cNvSpPr>
          <p:nvPr/>
        </p:nvSpPr>
        <p:spPr>
          <a:xfrm xmlns:a="http://schemas.openxmlformats.org/drawingml/2006/main">
            <a:off x="781050" y="2571750"/>
            <a:ext cx="838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C5CFDB"/>
                </a:solidFill>
                <a:latin typeface="Helvetica Neue"/>
                <a:ea typeface="Helvetica Neue"/>
                <a:cs typeface="Helvetica Neue"/>
              </a:defRPr>
            </a:pPr>
            <a:r>
              <a:rPr sz="1725" b="0">
                <a:solidFill>
                  <a:srgbClr val="C5CFDB"/>
                </a:solidFill>
                <a:latin typeface="Helvetica Neue"/>
                <a:ea typeface="Helvetica Neue"/>
                <a:cs typeface="Helvetica Neue"/>
              </a:rPr>
              <a:t>Node.js 22.12+  /  repository dependencies installed</a:t>
            </a:r>
          </a:p>
        </p:txBody>
      </p:sp>
      <p:sp>
        <p:nvSpPr>
          <p:cNvPr id="7" name="command-surface">
            <a:extLst xmlns:a="http://schemas.openxmlformats.org/drawingml/2006/main">
              <a:ext uri="{FF2B5EF4-FFF2-40B4-BE49-F238E27FC236}">
                <a16:creationId xmlns:a16="http://schemas.microsoft.com/office/drawing/2014/main" id="{D2495A9C-7159-4FB1-8B0E-7EA8E6FDB134}"/>
              </a:ext>
            </a:extLst>
          </p:cNvPr>
          <p:cNvSpPr>
            <a:spLocks xmlns:a="http://schemas.openxmlformats.org/drawingml/2006/main" noGrp="1"/>
          </p:cNvSpPr>
          <p:nvPr/>
        </p:nvSpPr>
        <p:spPr>
          <a:xfrm xmlns:a="http://schemas.openxmlformats.org/drawingml/2006/main">
            <a:off x="762000" y="3429000"/>
            <a:ext cx="8096250" cy="1666875"/>
          </a:xfrm>
          <a:prstGeom xmlns:a="http://schemas.openxmlformats.org/drawingml/2006/main" prst="rect">
            <a:avLst/>
          </a:prstGeom>
          <a:solidFill xmlns:a="http://schemas.openxmlformats.org/drawingml/2006/main">
            <a:srgbClr val="101B29"/>
          </a:solidFill>
          <a:ln xmlns:a="http://schemas.openxmlformats.org/drawingml/2006/main" w="0">
            <a:noFill/>
          </a:ln>
        </p:spPr>
      </p:sp>
      <p:sp>
        <p:nvSpPr>
          <p:cNvPr id="8" name="command-accent">
            <a:extLst xmlns:a="http://schemas.openxmlformats.org/drawingml/2006/main">
              <a:ext uri="{FF2B5EF4-FFF2-40B4-BE49-F238E27FC236}">
                <a16:creationId xmlns:a16="http://schemas.microsoft.com/office/drawing/2014/main" id="{8AF29839-177F-4154-9604-F9C3510FAD67}"/>
              </a:ext>
            </a:extLst>
          </p:cNvPr>
          <p:cNvSpPr>
            <a:spLocks xmlns:a="http://schemas.openxmlformats.org/drawingml/2006/main" noGrp="1"/>
          </p:cNvSpPr>
          <p:nvPr/>
        </p:nvSpPr>
        <p:spPr>
          <a:xfrm xmlns:a="http://schemas.openxmlformats.org/drawingml/2006/main">
            <a:off x="762000" y="3429000"/>
            <a:ext cx="47625" cy="1666875"/>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9" name="command">
            <a:extLst xmlns:a="http://schemas.openxmlformats.org/drawingml/2006/main">
              <a:ext uri="{FF2B5EF4-FFF2-40B4-BE49-F238E27FC236}">
                <a16:creationId xmlns:a16="http://schemas.microsoft.com/office/drawing/2014/main" id="{38A82DFE-713F-4CFA-9D0C-6C26878E145E}"/>
              </a:ext>
            </a:extLst>
          </p:cNvPr>
          <p:cNvSpPr>
            <a:spLocks xmlns:a="http://schemas.openxmlformats.org/drawingml/2006/main" noGrp="1"/>
          </p:cNvSpPr>
          <p:nvPr/>
        </p:nvSpPr>
        <p:spPr>
          <a:xfrm xmlns:a="http://schemas.openxmlformats.org/drawingml/2006/main">
            <a:off x="1066800" y="3762375"/>
            <a:ext cx="7524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6000"/>
              </a:lnSpc>
              <a:buNone/>
              <a:defRPr sz="2325" b="1">
                <a:solidFill>
                  <a:srgbClr val="F5F7FA"/>
                </a:solidFill>
                <a:latin typeface="Helvetica Neue"/>
                <a:ea typeface="Helvetica Neue"/>
                <a:cs typeface="Helvetica Neue"/>
              </a:defRPr>
            </a:pPr>
            <a:r>
              <a:rPr sz="2325" b="1">
                <a:solidFill>
                  <a:srgbClr val="F5F7FA"/>
                </a:solidFill>
                <a:latin typeface="Helvetica Neue"/>
                <a:ea typeface="Helvetica Neue"/>
                <a:cs typeface="Helvetica Neue"/>
              </a:rPr>
              <a:t>npm ci</a:t>
            </a:r>
          </a:p>
          <a:p xmlns:a="http://schemas.openxmlformats.org/drawingml/2006/main">
            <a:pPr algn="l">
              <a:lnSpc>
                <a:spcPct val="126000"/>
              </a:lnSpc>
              <a:buNone/>
              <a:defRPr sz="2325" b="1">
                <a:solidFill>
                  <a:srgbClr val="F5F7FA"/>
                </a:solidFill>
                <a:latin typeface="Helvetica Neue"/>
                <a:ea typeface="Helvetica Neue"/>
                <a:cs typeface="Helvetica Neue"/>
              </a:defRPr>
            </a:pPr>
            <a:r>
              <a:rPr sz="2325" b="1">
                <a:solidFill>
                  <a:srgbClr val="F5F7FA"/>
                </a:solidFill>
                <a:latin typeface="Helvetica Neue"/>
                <a:ea typeface="Helvetica Neue"/>
                <a:cs typeface="Helvetica Neue"/>
              </a:rPr>
              <a:t>npm run benchmark:flight</a:t>
            </a:r>
          </a:p>
        </p:txBody>
      </p:sp>
      <p:sp>
        <p:nvSpPr>
          <p:cNvPr id="10" name="no-credentials">
            <a:extLst xmlns:a="http://schemas.openxmlformats.org/drawingml/2006/main">
              <a:ext uri="{FF2B5EF4-FFF2-40B4-BE49-F238E27FC236}">
                <a16:creationId xmlns:a16="http://schemas.microsoft.com/office/drawing/2014/main" id="{986C2741-DA96-4BB3-8FB6-11DBD337D29B}"/>
              </a:ext>
            </a:extLst>
          </p:cNvPr>
          <p:cNvSpPr>
            <a:spLocks xmlns:a="http://schemas.openxmlformats.org/drawingml/2006/main" noGrp="1"/>
          </p:cNvSpPr>
          <p:nvPr/>
        </p:nvSpPr>
        <p:spPr>
          <a:xfrm xmlns:a="http://schemas.openxmlformats.org/drawingml/2006/main">
            <a:off x="781050" y="5476875"/>
            <a:ext cx="752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75" b="1">
                <a:solidFill>
                  <a:srgbClr val="79DCEB"/>
                </a:solidFill>
                <a:latin typeface="Helvetica Neue"/>
                <a:ea typeface="Helvetica Neue"/>
                <a:cs typeface="Helvetica Neue"/>
              </a:defRPr>
            </a:pPr>
            <a:r>
              <a:rPr sz="1875" b="1">
                <a:solidFill>
                  <a:srgbClr val="79DCEB"/>
                </a:solidFill>
                <a:latin typeface="Helvetica Neue"/>
                <a:ea typeface="Helvetica Neue"/>
                <a:cs typeface="Helvetica Neue"/>
              </a:rPr>
              <a:t>No API key or live-model call required.</a:t>
            </a:r>
          </a:p>
        </p:txBody>
      </p:sp>
      <p:sp>
        <p:nvSpPr>
          <p:cNvPr id="11" name="adoption-copy">
            <a:extLst xmlns:a="http://schemas.openxmlformats.org/drawingml/2006/main">
              <a:ext uri="{FF2B5EF4-FFF2-40B4-BE49-F238E27FC236}">
                <a16:creationId xmlns:a16="http://schemas.microsoft.com/office/drawing/2014/main" id="{5E5DC5C4-2FA5-48CE-B906-DD7BD173FDC6}"/>
              </a:ext>
            </a:extLst>
          </p:cNvPr>
          <p:cNvSpPr>
            <a:spLocks xmlns:a="http://schemas.openxmlformats.org/drawingml/2006/main" noGrp="1"/>
          </p:cNvSpPr>
          <p:nvPr/>
        </p:nvSpPr>
        <p:spPr>
          <a:xfrm xmlns:a="http://schemas.openxmlformats.org/drawingml/2006/main">
            <a:off x="781050" y="6286500"/>
            <a:ext cx="7810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buNone/>
              <a:defRPr sz="1875" b="0">
                <a:solidFill>
                  <a:srgbClr val="F5F7FA"/>
                </a:solidFill>
                <a:latin typeface="Helvetica Neue"/>
                <a:ea typeface="Helvetica Neue"/>
                <a:cs typeface="Helvetica Neue"/>
              </a:defRPr>
            </a:pPr>
            <a:r>
              <a:rPr sz="1875" b="0">
                <a:solidFill>
                  <a:srgbClr val="F5F7FA"/>
                </a:solidFill>
                <a:latin typeface="Helvetica Neue"/>
                <a:ea typeface="Helvetica Neue"/>
                <a:cs typeface="Helvetica Neue"/>
              </a:rPr>
              <a:t>Run the current harness baseline, then build the project-scale track described in this deck.</a:t>
            </a:r>
          </a:p>
        </p:txBody>
      </p:sp>
      <p:sp>
        <p:nvSpPr>
          <p:cNvPr id="12" name="repo-link">
            <a:extLst xmlns:a="http://schemas.openxmlformats.org/drawingml/2006/main">
              <a:ext uri="{FF2B5EF4-FFF2-40B4-BE49-F238E27FC236}">
                <a16:creationId xmlns:a16="http://schemas.microsoft.com/office/drawing/2014/main" id="{47A7675B-85BF-410F-9759-2BEDC6B52760}"/>
              </a:ext>
            </a:extLst>
          </p:cNvPr>
          <p:cNvSpPr>
            <a:spLocks xmlns:a="http://schemas.openxmlformats.org/drawingml/2006/main" noGrp="1"/>
          </p:cNvSpPr>
          <p:nvPr/>
        </p:nvSpPr>
        <p:spPr>
          <a:xfrm xmlns:a="http://schemas.openxmlformats.org/drawingml/2006/main">
            <a:off x="781050" y="7715250"/>
            <a:ext cx="8382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00" b="1">
                <a:solidFill>
                  <a:srgbClr val="C5CFDB"/>
                </a:solidFill>
                <a:latin typeface="Helvetica Neue"/>
                <a:ea typeface="Helvetica Neue"/>
                <a:cs typeface="Helvetica Neue"/>
              </a:defRPr>
            </a:pPr>
            <a:r>
              <a:rPr sz="1500" b="1">
                <a:solidFill>
                  <a:srgbClr val="C5CFDB"/>
                </a:solidFill>
                <a:latin typeface="Helvetica Neue"/>
                <a:ea typeface="Helvetica Neue"/>
                <a:cs typeface="Helvetica Neue"/>
              </a:rPr>
              <a:t>github.com/CardSorting/HEAV3NS/tree/main/agent-flight-test</a:t>
            </a:r>
          </a:p>
        </p:txBody>
      </p:sp>
      <p:sp>
        <p:nvSpPr>
          <p:cNvPr id="13" name="cta-close">
            <a:extLst xmlns:a="http://schemas.openxmlformats.org/drawingml/2006/main">
              <a:ext uri="{FF2B5EF4-FFF2-40B4-BE49-F238E27FC236}">
                <a16:creationId xmlns:a16="http://schemas.microsoft.com/office/drawing/2014/main" id="{32172F7A-FCBA-498F-A572-7A026D1081C0}"/>
              </a:ext>
            </a:extLst>
          </p:cNvPr>
          <p:cNvSpPr>
            <a:spLocks xmlns:a="http://schemas.openxmlformats.org/drawingml/2006/main" noGrp="1"/>
          </p:cNvSpPr>
          <p:nvPr/>
        </p:nvSpPr>
        <p:spPr>
          <a:xfrm xmlns:a="http://schemas.openxmlformats.org/drawingml/2006/main">
            <a:off x="781050" y="885825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2175" b="1">
                <a:solidFill>
                  <a:srgbClr val="F5F7FA"/>
                </a:solidFill>
                <a:latin typeface="Helvetica Neue"/>
                <a:ea typeface="Helvetica Neue"/>
                <a:cs typeface="Helvetica Neue"/>
              </a:defRPr>
            </a:pPr>
            <a:r>
              <a:rPr sz="2175" b="1">
                <a:solidFill>
                  <a:srgbClr val="F5F7FA"/>
                </a:solidFill>
                <a:latin typeface="Helvetica Neue"/>
                <a:ea typeface="Helvetica Neue"/>
                <a:cs typeface="Helvetica Neue"/>
              </a:rPr>
              <a:t>Precision at speed. Pilot in command.</a:t>
            </a:r>
          </a:p>
        </p:txBody>
      </p:sp>
    </p:spTree>
    <p:extLst>
      <p:ext uri="{BB962C8B-B14F-4D97-AF65-F5344CB8AC3E}">
        <p14:creationId xmlns:p14="http://schemas.microsoft.com/office/powerpoint/2010/main" val="1356805918"/>
      </p:ext>
    </p:extLst>
  </p:cSld>
</p:sld>
</file>

<file path=ppt/slides/slide6.xml><?xml version="1.0" encoding="utf-8"?>
<p:sld xmlns:p="http://schemas.openxmlformats.org/presentationml/2006/main">
  <p:cSld>
    <p:bg>
      <p:bgPr>
        <a:solidFill xmlns:a="http://schemas.openxmlformats.org/drawingml/2006/main">
          <a:srgbClr val="08111B"/>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d6768d9896c458b"/>
          <a:srcRect xmlns:a="http://schemas.openxmlformats.org/drawingml/2006/main" l="18" t="0" r="18" b="0"/>
          <a:stretch xmlns:a="http://schemas.openxmlformats.org/drawingml/2006/main">
            <a:fillRect l="0" t="0" r="0" b="0"/>
          </a:stretch>
        </p:blipFill>
        <p:spPr>
          <a:xfrm xmlns:a="http://schemas.openxmlformats.org/drawingml/2006/main">
            <a:off x="0" y="0"/>
            <a:ext cx="10287000" cy="12858750"/>
          </a:xfrm>
          <a:prstGeom xmlns:a="http://schemas.openxmlformats.org/drawingml/2006/main" prst="rect">
            <a:avLst/>
          </a:prstGeom>
        </p:spPr>
      </p:pic>
      <p:sp>
        <p:nvSpPr>
          <p:cNvPr id="2" name="brand-accent">
            <a:extLst xmlns:a="http://schemas.openxmlformats.org/drawingml/2006/main">
              <a:ext uri="{FF2B5EF4-FFF2-40B4-BE49-F238E27FC236}">
                <a16:creationId xmlns:a16="http://schemas.microsoft.com/office/drawing/2014/main" id="{194D2B38-9020-4A14-B60D-57CAFE0AF9A2}"/>
              </a:ext>
            </a:extLst>
          </p:cNvPr>
          <p:cNvSpPr>
            <a:spLocks xmlns:a="http://schemas.openxmlformats.org/drawingml/2006/main" noGrp="1"/>
          </p:cNvSpPr>
          <p:nvPr/>
        </p:nvSpPr>
        <p:spPr>
          <a:xfrm xmlns:a="http://schemas.openxmlformats.org/drawingml/2006/main">
            <a:off x="762000" y="647700"/>
            <a:ext cx="38100" cy="20955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3" name="brand">
            <a:extLst xmlns:a="http://schemas.openxmlformats.org/drawingml/2006/main">
              <a:ext uri="{FF2B5EF4-FFF2-40B4-BE49-F238E27FC236}">
                <a16:creationId xmlns:a16="http://schemas.microsoft.com/office/drawing/2014/main" id="{2CB76A6A-C8A2-4938-9B5C-5B52518C2233}"/>
              </a:ext>
            </a:extLst>
          </p:cNvPr>
          <p:cNvSpPr>
            <a:spLocks xmlns:a="http://schemas.openxmlformats.org/drawingml/2006/main" noGrp="1"/>
          </p:cNvSpPr>
          <p:nvPr/>
        </p:nvSpPr>
        <p:spPr>
          <a:xfrm xmlns:a="http://schemas.openxmlformats.org/drawingml/2006/main">
            <a:off x="933450" y="6381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C5CFDB"/>
                </a:solidFill>
                <a:latin typeface="Helvetica Neue"/>
                <a:ea typeface="Helvetica Neue"/>
                <a:cs typeface="Helvetica Neue"/>
              </a:defRPr>
            </a:pPr>
            <a:r>
              <a:rPr sz="1350" b="1">
                <a:solidFill>
                  <a:srgbClr val="C5CFDB"/>
                </a:solidFill>
                <a:latin typeface="Helvetica Neue"/>
                <a:ea typeface="Helvetica Neue"/>
                <a:cs typeface="Helvetica Neue"/>
              </a:rPr>
              <a:t>HEAV3NS  /  AGENT FLIGHT TEST</a:t>
            </a:r>
          </a:p>
        </p:txBody>
      </p:sp>
      <p:sp>
        <p:nvSpPr>
          <p:cNvPr id="4" name="page-number">
            <a:extLst xmlns:a="http://schemas.openxmlformats.org/drawingml/2006/main">
              <a:ext uri="{FF2B5EF4-FFF2-40B4-BE49-F238E27FC236}">
                <a16:creationId xmlns:a16="http://schemas.microsoft.com/office/drawing/2014/main" id="{F5101B44-F258-4884-A1FE-A0082BB43567}"/>
              </a:ext>
            </a:extLst>
          </p:cNvPr>
          <p:cNvSpPr>
            <a:spLocks xmlns:a="http://schemas.openxmlformats.org/drawingml/2006/main" noGrp="1"/>
          </p:cNvSpPr>
          <p:nvPr/>
        </p:nvSpPr>
        <p:spPr>
          <a:xfrm xmlns:a="http://schemas.openxmlformats.org/drawingml/2006/main">
            <a:off x="8572500" y="12039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C5CFDB"/>
                </a:solidFill>
                <a:latin typeface="Helvetica Neue"/>
                <a:ea typeface="Helvetica Neue"/>
                <a:cs typeface="Helvetica Neue"/>
              </a:defRPr>
            </a:pPr>
            <a:r>
              <a:rPr sz="1350" b="0">
                <a:solidFill>
                  <a:srgbClr val="C5CFDB"/>
                </a:solidFill>
                <a:latin typeface="Helvetica Neue"/>
                <a:ea typeface="Helvetica Neue"/>
                <a:cs typeface="Helvetica Neue"/>
              </a:rPr>
              <a:t>05 / 07</a:t>
            </a:r>
          </a:p>
        </p:txBody>
      </p:sp>
      <p:sp>
        <p:nvSpPr>
          <p:cNvPr id="5" name="slide-title">
            <a:extLst xmlns:a="http://schemas.openxmlformats.org/drawingml/2006/main">
              <a:ext uri="{FF2B5EF4-FFF2-40B4-BE49-F238E27FC236}">
                <a16:creationId xmlns:a16="http://schemas.microsoft.com/office/drawing/2014/main" id="{A3B1B509-F67A-47F8-AB47-E355010346F0}"/>
              </a:ext>
            </a:extLst>
          </p:cNvPr>
          <p:cNvSpPr>
            <a:spLocks xmlns:a="http://schemas.openxmlformats.org/drawingml/2006/main" noGrp="1"/>
          </p:cNvSpPr>
          <p:nvPr/>
        </p:nvSpPr>
        <p:spPr>
          <a:xfrm xmlns:a="http://schemas.openxmlformats.org/drawingml/2006/main">
            <a:off x="762000" y="14763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F5F7FA"/>
                </a:solidFill>
                <a:latin typeface="Helvetica Neue"/>
                <a:ea typeface="Helvetica Neue"/>
                <a:cs typeface="Helvetica Neue"/>
              </a:defRPr>
            </a:pPr>
            <a:r>
              <a:rPr sz="3900" b="1">
                <a:solidFill>
                  <a:srgbClr val="F5F7FA"/>
                </a:solidFill>
                <a:latin typeface="Helvetica Neue"/>
                <a:ea typeface="Helvetica Neue"/>
                <a:cs typeface="Helvetica Neue"/>
              </a:rPr>
              <a:t>Project tracks: real work</a:t>
            </a:r>
          </a:p>
        </p:txBody>
      </p:sp>
      <p:sp>
        <p:nvSpPr>
          <p:cNvPr id="6" name="slide-subtitle">
            <a:extLst xmlns:a="http://schemas.openxmlformats.org/drawingml/2006/main">
              <a:ext uri="{FF2B5EF4-FFF2-40B4-BE49-F238E27FC236}">
                <a16:creationId xmlns:a16="http://schemas.microsoft.com/office/drawing/2014/main" id="{7F52DED9-0DAF-455B-B523-C30F4593530A}"/>
              </a:ext>
            </a:extLst>
          </p:cNvPr>
          <p:cNvSpPr>
            <a:spLocks xmlns:a="http://schemas.openxmlformats.org/drawingml/2006/main" noGrp="1"/>
          </p:cNvSpPr>
          <p:nvPr/>
        </p:nvSpPr>
        <p:spPr>
          <a:xfrm xmlns:a="http://schemas.openxmlformats.org/drawingml/2006/main">
            <a:off x="781050" y="22383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C5CFDB"/>
                </a:solidFill>
                <a:latin typeface="Helvetica Neue"/>
                <a:ea typeface="Helvetica Neue"/>
                <a:cs typeface="Helvetica Neue"/>
              </a:defRPr>
            </a:pPr>
            <a:r>
              <a:rPr sz="1725" b="0">
                <a:solidFill>
                  <a:srgbClr val="C5CFDB"/>
                </a:solidFill>
                <a:latin typeface="Helvetica Neue"/>
                <a:ea typeface="Helvetica Neue"/>
                <a:cs typeface="Helvetica Neue"/>
              </a:rPr>
              <a:t>Pinned project snapshots · independent completion checks</a:t>
            </a:r>
          </a:p>
        </p:txBody>
      </p:sp>
      <p:sp>
        <p:nvSpPr>
          <p:cNvPr id="7" name="scenario-accent-0">
            <a:extLst xmlns:a="http://schemas.openxmlformats.org/drawingml/2006/main">
              <a:ext uri="{FF2B5EF4-FFF2-40B4-BE49-F238E27FC236}">
                <a16:creationId xmlns:a16="http://schemas.microsoft.com/office/drawing/2014/main" id="{ABC42607-3B32-4F89-878E-F31EC9572A33}"/>
              </a:ext>
            </a:extLst>
          </p:cNvPr>
          <p:cNvSpPr>
            <a:spLocks xmlns:a="http://schemas.openxmlformats.org/drawingml/2006/main" noGrp="1"/>
          </p:cNvSpPr>
          <p:nvPr/>
        </p:nvSpPr>
        <p:spPr>
          <a:xfrm xmlns:a="http://schemas.openxmlformats.org/drawingml/2006/main">
            <a:off x="781050" y="31623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8" name="scenario-id-0">
            <a:extLst xmlns:a="http://schemas.openxmlformats.org/drawingml/2006/main">
              <a:ext uri="{FF2B5EF4-FFF2-40B4-BE49-F238E27FC236}">
                <a16:creationId xmlns:a16="http://schemas.microsoft.com/office/drawing/2014/main" id="{A4576631-FA83-434E-9FF2-6F3D7B443A87}"/>
              </a:ext>
            </a:extLst>
          </p:cNvPr>
          <p:cNvSpPr>
            <a:spLocks xmlns:a="http://schemas.openxmlformats.org/drawingml/2006/main" noGrp="1"/>
          </p:cNvSpPr>
          <p:nvPr/>
        </p:nvSpPr>
        <p:spPr>
          <a:xfrm xmlns:a="http://schemas.openxmlformats.org/drawingml/2006/main">
            <a:off x="1028700" y="31242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GAME</a:t>
            </a:r>
          </a:p>
        </p:txBody>
      </p:sp>
      <p:sp>
        <p:nvSpPr>
          <p:cNvPr id="9" name="scenario-label-0">
            <a:extLst xmlns:a="http://schemas.openxmlformats.org/drawingml/2006/main">
              <a:ext uri="{FF2B5EF4-FFF2-40B4-BE49-F238E27FC236}">
                <a16:creationId xmlns:a16="http://schemas.microsoft.com/office/drawing/2014/main" id="{B3858961-A397-4006-A57B-C6D9CEFB01FA}"/>
              </a:ext>
            </a:extLst>
          </p:cNvPr>
          <p:cNvSpPr>
            <a:spLocks xmlns:a="http://schemas.openxmlformats.org/drawingml/2006/main" noGrp="1"/>
          </p:cNvSpPr>
          <p:nvPr/>
        </p:nvSpPr>
        <p:spPr>
          <a:xfrm xmlns:a="http://schemas.openxmlformats.org/drawingml/2006/main">
            <a:off x="2000250" y="31146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GAMEPLAY TASK</a:t>
            </a:r>
          </a:p>
        </p:txBody>
      </p:sp>
      <p:sp>
        <p:nvSpPr>
          <p:cNvPr id="10" name="scenario-detail-0">
            <a:extLst xmlns:a="http://schemas.openxmlformats.org/drawingml/2006/main">
              <a:ext uri="{FF2B5EF4-FFF2-40B4-BE49-F238E27FC236}">
                <a16:creationId xmlns:a16="http://schemas.microsoft.com/office/drawing/2014/main" id="{575589AA-A197-461A-891A-C68C96FCFA51}"/>
              </a:ext>
            </a:extLst>
          </p:cNvPr>
          <p:cNvSpPr>
            <a:spLocks xmlns:a="http://schemas.openxmlformats.org/drawingml/2006/main" noGrp="1"/>
          </p:cNvSpPr>
          <p:nvPr/>
        </p:nvSpPr>
        <p:spPr>
          <a:xfrm xmlns:a="http://schemas.openxmlformats.org/drawingml/2006/main">
            <a:off x="2000250" y="35052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Change a game feature; verify build, simulation tests and a playable smoke path.</a:t>
            </a:r>
          </a:p>
        </p:txBody>
      </p:sp>
      <p:sp>
        <p:nvSpPr>
          <p:cNvPr id="11" name="scenario-rule-0">
            <a:extLst xmlns:a="http://schemas.openxmlformats.org/drawingml/2006/main">
              <a:ext uri="{FF2B5EF4-FFF2-40B4-BE49-F238E27FC236}">
                <a16:creationId xmlns:a16="http://schemas.microsoft.com/office/drawing/2014/main" id="{1C7DFB6B-149E-4989-9563-B9C3DA2A629F}"/>
              </a:ext>
            </a:extLst>
          </p:cNvPr>
          <p:cNvSpPr>
            <a:spLocks xmlns:a="http://schemas.openxmlformats.org/drawingml/2006/main" noGrp="1"/>
          </p:cNvSpPr>
          <p:nvPr/>
        </p:nvSpPr>
        <p:spPr>
          <a:xfrm xmlns:a="http://schemas.openxmlformats.org/drawingml/2006/main">
            <a:off x="762000" y="42291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12" name="scenario-accent-1">
            <a:extLst xmlns:a="http://schemas.openxmlformats.org/drawingml/2006/main">
              <a:ext uri="{FF2B5EF4-FFF2-40B4-BE49-F238E27FC236}">
                <a16:creationId xmlns:a16="http://schemas.microsoft.com/office/drawing/2014/main" id="{EC91D26A-99B0-4BB2-A8A7-E3AEB37432EB}"/>
              </a:ext>
            </a:extLst>
          </p:cNvPr>
          <p:cNvSpPr>
            <a:spLocks xmlns:a="http://schemas.openxmlformats.org/drawingml/2006/main" noGrp="1"/>
          </p:cNvSpPr>
          <p:nvPr/>
        </p:nvSpPr>
        <p:spPr>
          <a:xfrm xmlns:a="http://schemas.openxmlformats.org/drawingml/2006/main">
            <a:off x="781050" y="45339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13" name="scenario-id-1">
            <a:extLst xmlns:a="http://schemas.openxmlformats.org/drawingml/2006/main">
              <a:ext uri="{FF2B5EF4-FFF2-40B4-BE49-F238E27FC236}">
                <a16:creationId xmlns:a16="http://schemas.microsoft.com/office/drawing/2014/main" id="{B1D43E6D-73A7-4186-A9CC-20235CA1B0F7}"/>
              </a:ext>
            </a:extLst>
          </p:cNvPr>
          <p:cNvSpPr>
            <a:spLocks xmlns:a="http://schemas.openxmlformats.org/drawingml/2006/main" noGrp="1"/>
          </p:cNvSpPr>
          <p:nvPr/>
        </p:nvSpPr>
        <p:spPr>
          <a:xfrm xmlns:a="http://schemas.openxmlformats.org/drawingml/2006/main">
            <a:off x="1028700" y="44958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WEB</a:t>
            </a:r>
          </a:p>
        </p:txBody>
      </p:sp>
      <p:sp>
        <p:nvSpPr>
          <p:cNvPr id="14" name="scenario-label-1">
            <a:extLst xmlns:a="http://schemas.openxmlformats.org/drawingml/2006/main">
              <a:ext uri="{FF2B5EF4-FFF2-40B4-BE49-F238E27FC236}">
                <a16:creationId xmlns:a16="http://schemas.microsoft.com/office/drawing/2014/main" id="{3D93AB21-5B65-4DE4-A032-261757CF9742}"/>
              </a:ext>
            </a:extLst>
          </p:cNvPr>
          <p:cNvSpPr>
            <a:spLocks xmlns:a="http://schemas.openxmlformats.org/drawingml/2006/main" noGrp="1"/>
          </p:cNvSpPr>
          <p:nvPr/>
        </p:nvSpPr>
        <p:spPr>
          <a:xfrm xmlns:a="http://schemas.openxmlformats.org/drawingml/2006/main">
            <a:off x="2000250" y="44862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RESPONSIVE WEB</a:t>
            </a:r>
          </a:p>
        </p:txBody>
      </p:sp>
      <p:sp>
        <p:nvSpPr>
          <p:cNvPr id="15" name="scenario-detail-1">
            <a:extLst xmlns:a="http://schemas.openxmlformats.org/drawingml/2006/main">
              <a:ext uri="{FF2B5EF4-FFF2-40B4-BE49-F238E27FC236}">
                <a16:creationId xmlns:a16="http://schemas.microsoft.com/office/drawing/2014/main" id="{63295A0A-2F3B-4FC0-9FE4-DA149F31F0E5}"/>
              </a:ext>
            </a:extLst>
          </p:cNvPr>
          <p:cNvSpPr>
            <a:spLocks xmlns:a="http://schemas.openxmlformats.org/drawingml/2006/main" noGrp="1"/>
          </p:cNvSpPr>
          <p:nvPr/>
        </p:nvSpPr>
        <p:spPr>
          <a:xfrm xmlns:a="http://schemas.openxmlformats.org/drawingml/2006/main">
            <a:off x="2000250" y="48768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Fix a design task; verify target viewports, accessibility and browser behavior.</a:t>
            </a:r>
          </a:p>
        </p:txBody>
      </p:sp>
      <p:sp>
        <p:nvSpPr>
          <p:cNvPr id="16" name="scenario-rule-1">
            <a:extLst xmlns:a="http://schemas.openxmlformats.org/drawingml/2006/main">
              <a:ext uri="{FF2B5EF4-FFF2-40B4-BE49-F238E27FC236}">
                <a16:creationId xmlns:a16="http://schemas.microsoft.com/office/drawing/2014/main" id="{A0F10D19-F500-4EBE-AF2B-7C758C2F77EE}"/>
              </a:ext>
            </a:extLst>
          </p:cNvPr>
          <p:cNvSpPr>
            <a:spLocks xmlns:a="http://schemas.openxmlformats.org/drawingml/2006/main" noGrp="1"/>
          </p:cNvSpPr>
          <p:nvPr/>
        </p:nvSpPr>
        <p:spPr>
          <a:xfrm xmlns:a="http://schemas.openxmlformats.org/drawingml/2006/main">
            <a:off x="762000" y="56007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17" name="scenario-accent-2">
            <a:extLst xmlns:a="http://schemas.openxmlformats.org/drawingml/2006/main">
              <a:ext uri="{FF2B5EF4-FFF2-40B4-BE49-F238E27FC236}">
                <a16:creationId xmlns:a16="http://schemas.microsoft.com/office/drawing/2014/main" id="{267A77C5-220C-43FB-ABCD-A9BEED67AF22}"/>
              </a:ext>
            </a:extLst>
          </p:cNvPr>
          <p:cNvSpPr>
            <a:spLocks xmlns:a="http://schemas.openxmlformats.org/drawingml/2006/main" noGrp="1"/>
          </p:cNvSpPr>
          <p:nvPr/>
        </p:nvSpPr>
        <p:spPr>
          <a:xfrm xmlns:a="http://schemas.openxmlformats.org/drawingml/2006/main">
            <a:off x="781050" y="59055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18" name="scenario-id-2">
            <a:extLst xmlns:a="http://schemas.openxmlformats.org/drawingml/2006/main">
              <a:ext uri="{FF2B5EF4-FFF2-40B4-BE49-F238E27FC236}">
                <a16:creationId xmlns:a16="http://schemas.microsoft.com/office/drawing/2014/main" id="{446340AD-BCD4-4592-9BC1-909A29630997}"/>
              </a:ext>
            </a:extLst>
          </p:cNvPr>
          <p:cNvSpPr>
            <a:spLocks xmlns:a="http://schemas.openxmlformats.org/drawingml/2006/main" noGrp="1"/>
          </p:cNvSpPr>
          <p:nvPr/>
        </p:nvSpPr>
        <p:spPr>
          <a:xfrm xmlns:a="http://schemas.openxmlformats.org/drawingml/2006/main">
            <a:off x="1028700" y="5867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KNOW</a:t>
            </a:r>
          </a:p>
        </p:txBody>
      </p:sp>
      <p:sp>
        <p:nvSpPr>
          <p:cNvPr id="19" name="scenario-label-2">
            <a:extLst xmlns:a="http://schemas.openxmlformats.org/drawingml/2006/main">
              <a:ext uri="{FF2B5EF4-FFF2-40B4-BE49-F238E27FC236}">
                <a16:creationId xmlns:a16="http://schemas.microsoft.com/office/drawing/2014/main" id="{451FC828-E6E2-440C-9DDD-54F05D7A83D6}"/>
              </a:ext>
            </a:extLst>
          </p:cNvPr>
          <p:cNvSpPr>
            <a:spLocks xmlns:a="http://schemas.openxmlformats.org/drawingml/2006/main" noGrp="1"/>
          </p:cNvSpPr>
          <p:nvPr/>
        </p:nvSpPr>
        <p:spPr>
          <a:xfrm xmlns:a="http://schemas.openxmlformats.org/drawingml/2006/main">
            <a:off x="2000250" y="58578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PROJECT KNOWLEDGE</a:t>
            </a:r>
          </a:p>
        </p:txBody>
      </p:sp>
      <p:sp>
        <p:nvSpPr>
          <p:cNvPr id="20" name="scenario-detail-2">
            <a:extLst xmlns:a="http://schemas.openxmlformats.org/drawingml/2006/main">
              <a:ext uri="{FF2B5EF4-FFF2-40B4-BE49-F238E27FC236}">
                <a16:creationId xmlns:a16="http://schemas.microsoft.com/office/drawing/2014/main" id="{38CB7547-5CA7-4CCF-BB3E-354F26D51491}"/>
              </a:ext>
            </a:extLst>
          </p:cNvPr>
          <p:cNvSpPr>
            <a:spLocks xmlns:a="http://schemas.openxmlformats.org/drawingml/2006/main" noGrp="1"/>
          </p:cNvSpPr>
          <p:nvPr/>
        </p:nvSpPr>
        <p:spPr>
          <a:xfrm xmlns:a="http://schemas.openxmlformats.org/drawingml/2006/main">
            <a:off x="2000250" y="62484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Answer and update repo facts; check source references, contradictions and durable retrieval.</a:t>
            </a:r>
          </a:p>
        </p:txBody>
      </p:sp>
      <p:sp>
        <p:nvSpPr>
          <p:cNvPr id="21" name="scenario-rule-2">
            <a:extLst xmlns:a="http://schemas.openxmlformats.org/drawingml/2006/main">
              <a:ext uri="{FF2B5EF4-FFF2-40B4-BE49-F238E27FC236}">
                <a16:creationId xmlns:a16="http://schemas.microsoft.com/office/drawing/2014/main" id="{5134E055-B61F-4F42-8E6F-373601EDB6BD}"/>
              </a:ext>
            </a:extLst>
          </p:cNvPr>
          <p:cNvSpPr>
            <a:spLocks xmlns:a="http://schemas.openxmlformats.org/drawingml/2006/main" noGrp="1"/>
          </p:cNvSpPr>
          <p:nvPr/>
        </p:nvSpPr>
        <p:spPr>
          <a:xfrm xmlns:a="http://schemas.openxmlformats.org/drawingml/2006/main">
            <a:off x="762000" y="69723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22" name="scenario-accent-3">
            <a:extLst xmlns:a="http://schemas.openxmlformats.org/drawingml/2006/main">
              <a:ext uri="{FF2B5EF4-FFF2-40B4-BE49-F238E27FC236}">
                <a16:creationId xmlns:a16="http://schemas.microsoft.com/office/drawing/2014/main" id="{D0AC0345-DDEA-4674-98D6-E573B46851C8}"/>
              </a:ext>
            </a:extLst>
          </p:cNvPr>
          <p:cNvSpPr>
            <a:spLocks xmlns:a="http://schemas.openxmlformats.org/drawingml/2006/main" noGrp="1"/>
          </p:cNvSpPr>
          <p:nvPr/>
        </p:nvSpPr>
        <p:spPr>
          <a:xfrm xmlns:a="http://schemas.openxmlformats.org/drawingml/2006/main">
            <a:off x="781050" y="72771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23" name="scenario-id-3">
            <a:extLst xmlns:a="http://schemas.openxmlformats.org/drawingml/2006/main">
              <a:ext uri="{FF2B5EF4-FFF2-40B4-BE49-F238E27FC236}">
                <a16:creationId xmlns:a16="http://schemas.microsoft.com/office/drawing/2014/main" id="{965C90DC-7E36-4391-96AD-2FB72BFEA976}"/>
              </a:ext>
            </a:extLst>
          </p:cNvPr>
          <p:cNvSpPr>
            <a:spLocks xmlns:a="http://schemas.openxmlformats.org/drawingml/2006/main" noGrp="1"/>
          </p:cNvSpPr>
          <p:nvPr/>
        </p:nvSpPr>
        <p:spPr>
          <a:xfrm xmlns:a="http://schemas.openxmlformats.org/drawingml/2006/main">
            <a:off x="1028700" y="72390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LINK</a:t>
            </a:r>
          </a:p>
        </p:txBody>
      </p:sp>
      <p:sp>
        <p:nvSpPr>
          <p:cNvPr id="24" name="scenario-label-3">
            <a:extLst xmlns:a="http://schemas.openxmlformats.org/drawingml/2006/main">
              <a:ext uri="{FF2B5EF4-FFF2-40B4-BE49-F238E27FC236}">
                <a16:creationId xmlns:a16="http://schemas.microsoft.com/office/drawing/2014/main" id="{33EE1601-B6A6-47A2-8591-2C22F45C352B}"/>
              </a:ext>
            </a:extLst>
          </p:cNvPr>
          <p:cNvSpPr>
            <a:spLocks xmlns:a="http://schemas.openxmlformats.org/drawingml/2006/main" noGrp="1"/>
          </p:cNvSpPr>
          <p:nvPr/>
        </p:nvSpPr>
        <p:spPr>
          <a:xfrm xmlns:a="http://schemas.openxmlformats.org/drawingml/2006/main">
            <a:off x="2000250" y="72294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LINKED FOLLOW-UP</a:t>
            </a:r>
          </a:p>
        </p:txBody>
      </p:sp>
      <p:sp>
        <p:nvSpPr>
          <p:cNvPr id="25" name="scenario-detail-3">
            <a:extLst xmlns:a="http://schemas.openxmlformats.org/drawingml/2006/main">
              <a:ext uri="{FF2B5EF4-FFF2-40B4-BE49-F238E27FC236}">
                <a16:creationId xmlns:a16="http://schemas.microsoft.com/office/drawing/2014/main" id="{7ED6F529-01CC-475D-B4E7-473CAF3B91EF}"/>
              </a:ext>
            </a:extLst>
          </p:cNvPr>
          <p:cNvSpPr>
            <a:spLocks xmlns:a="http://schemas.openxmlformats.org/drawingml/2006/main" noGrp="1"/>
          </p:cNvSpPr>
          <p:nvPr/>
        </p:nvSpPr>
        <p:spPr>
          <a:xfrm xmlns:a="http://schemas.openxmlformats.org/drawingml/2006/main">
            <a:off x="2000250" y="76200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Carry one workspace across sessions so later tasks depend on earlier edits.</a:t>
            </a:r>
          </a:p>
        </p:txBody>
      </p:sp>
      <p:sp>
        <p:nvSpPr>
          <p:cNvPr id="26" name="scenario-rule-3">
            <a:extLst xmlns:a="http://schemas.openxmlformats.org/drawingml/2006/main">
              <a:ext uri="{FF2B5EF4-FFF2-40B4-BE49-F238E27FC236}">
                <a16:creationId xmlns:a16="http://schemas.microsoft.com/office/drawing/2014/main" id="{D227192C-DD6B-48DD-BE03-6B7C87E69DA3}"/>
              </a:ext>
            </a:extLst>
          </p:cNvPr>
          <p:cNvSpPr>
            <a:spLocks xmlns:a="http://schemas.openxmlformats.org/drawingml/2006/main" noGrp="1"/>
          </p:cNvSpPr>
          <p:nvPr/>
        </p:nvSpPr>
        <p:spPr>
          <a:xfrm xmlns:a="http://schemas.openxmlformats.org/drawingml/2006/main">
            <a:off x="762000" y="83439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27" name="scenario-accent-4">
            <a:extLst xmlns:a="http://schemas.openxmlformats.org/drawingml/2006/main">
              <a:ext uri="{FF2B5EF4-FFF2-40B4-BE49-F238E27FC236}">
                <a16:creationId xmlns:a16="http://schemas.microsoft.com/office/drawing/2014/main" id="{6C9050DC-7E4A-4C65-8BF8-04FA75316F19}"/>
              </a:ext>
            </a:extLst>
          </p:cNvPr>
          <p:cNvSpPr>
            <a:spLocks xmlns:a="http://schemas.openxmlformats.org/drawingml/2006/main" noGrp="1"/>
          </p:cNvSpPr>
          <p:nvPr/>
        </p:nvSpPr>
        <p:spPr>
          <a:xfrm xmlns:a="http://schemas.openxmlformats.org/drawingml/2006/main">
            <a:off x="781050" y="8648700"/>
            <a:ext cx="47625" cy="800100"/>
          </a:xfrm>
          <a:prstGeom xmlns:a="http://schemas.openxmlformats.org/drawingml/2006/main" prst="rect">
            <a:avLst/>
          </a:prstGeom>
          <a:solidFill xmlns:a="http://schemas.openxmlformats.org/drawingml/2006/main">
            <a:srgbClr val="79DCEB"/>
          </a:solidFill>
          <a:ln xmlns:a="http://schemas.openxmlformats.org/drawingml/2006/main" w="0">
            <a:noFill/>
          </a:ln>
        </p:spPr>
      </p:sp>
      <p:sp>
        <p:nvSpPr>
          <p:cNvPr id="28" name="scenario-id-4">
            <a:extLst xmlns:a="http://schemas.openxmlformats.org/drawingml/2006/main">
              <a:ext uri="{FF2B5EF4-FFF2-40B4-BE49-F238E27FC236}">
                <a16:creationId xmlns:a16="http://schemas.microsoft.com/office/drawing/2014/main" id="{7454F320-EF77-4C18-89AD-BF32604EB14F}"/>
              </a:ext>
            </a:extLst>
          </p:cNvPr>
          <p:cNvSpPr>
            <a:spLocks xmlns:a="http://schemas.openxmlformats.org/drawingml/2006/main" noGrp="1"/>
          </p:cNvSpPr>
          <p:nvPr/>
        </p:nvSpPr>
        <p:spPr>
          <a:xfrm xmlns:a="http://schemas.openxmlformats.org/drawingml/2006/main">
            <a:off x="1028700" y="8610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PROOF</a:t>
            </a:r>
          </a:p>
        </p:txBody>
      </p:sp>
      <p:sp>
        <p:nvSpPr>
          <p:cNvPr id="29" name="scenario-label-4">
            <a:extLst xmlns:a="http://schemas.openxmlformats.org/drawingml/2006/main">
              <a:ext uri="{FF2B5EF4-FFF2-40B4-BE49-F238E27FC236}">
                <a16:creationId xmlns:a16="http://schemas.microsoft.com/office/drawing/2014/main" id="{6D2BC4E9-3BFE-4C27-BDB2-0FC29FCA064F}"/>
              </a:ext>
            </a:extLst>
          </p:cNvPr>
          <p:cNvSpPr>
            <a:spLocks xmlns:a="http://schemas.openxmlformats.org/drawingml/2006/main" noGrp="1"/>
          </p:cNvSpPr>
          <p:nvPr/>
        </p:nvSpPr>
        <p:spPr>
          <a:xfrm xmlns:a="http://schemas.openxmlformats.org/drawingml/2006/main">
            <a:off x="2000250" y="86010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INDEPENDENT ORACLES</a:t>
            </a:r>
          </a:p>
        </p:txBody>
      </p:sp>
      <p:sp>
        <p:nvSpPr>
          <p:cNvPr id="30" name="scenario-detail-4">
            <a:extLst xmlns:a="http://schemas.openxmlformats.org/drawingml/2006/main">
              <a:ext uri="{FF2B5EF4-FFF2-40B4-BE49-F238E27FC236}">
                <a16:creationId xmlns:a16="http://schemas.microsoft.com/office/drawing/2014/main" id="{3A0C4A91-A723-4C40-928A-117771035210}"/>
              </a:ext>
            </a:extLst>
          </p:cNvPr>
          <p:cNvSpPr>
            <a:spLocks xmlns:a="http://schemas.openxmlformats.org/drawingml/2006/main" noGrp="1"/>
          </p:cNvSpPr>
          <p:nvPr/>
        </p:nvSpPr>
        <p:spPr>
          <a:xfrm xmlns:a="http://schemas.openxmlformats.org/drawingml/2006/main">
            <a:off x="2000250" y="89916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Build scripts, browser checks and citation/consistency tests score outcomes.</a:t>
            </a:r>
          </a:p>
        </p:txBody>
      </p:sp>
      <p:sp>
        <p:nvSpPr>
          <p:cNvPr id="31" name="scenario-footnote">
            <a:extLst xmlns:a="http://schemas.openxmlformats.org/drawingml/2006/main">
              <a:ext uri="{FF2B5EF4-FFF2-40B4-BE49-F238E27FC236}">
                <a16:creationId xmlns:a16="http://schemas.microsoft.com/office/drawing/2014/main" id="{51AAF585-B92B-42CD-8A80-842828145275}"/>
              </a:ext>
            </a:extLst>
          </p:cNvPr>
          <p:cNvSpPr>
            <a:spLocks xmlns:a="http://schemas.openxmlformats.org/drawingml/2006/main" noGrp="1"/>
          </p:cNvSpPr>
          <p:nvPr/>
        </p:nvSpPr>
        <p:spPr>
          <a:xfrm xmlns:a="http://schemas.openxmlformats.org/drawingml/2006/main">
            <a:off x="781050" y="10334625"/>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99A8B9"/>
                </a:solidFill>
                <a:latin typeface="Helvetica Neue"/>
                <a:ea typeface="Helvetica Neue"/>
                <a:cs typeface="Helvetica Neue"/>
              </a:defRPr>
            </a:pPr>
            <a:r>
              <a:rPr sz="1575" b="1">
                <a:solidFill>
                  <a:srgbClr val="99A8B9"/>
                </a:solidFill>
                <a:latin typeface="Helvetica Neue"/>
                <a:ea typeface="Helvetica Neue"/>
                <a:cs typeface="Helvetica Neue"/>
              </a:rPr>
              <a:t>Three project types; tasks start from pinned commits and clean workspaces.</a:t>
            </a:r>
          </a:p>
        </p:txBody>
      </p:sp>
    </p:spTree>
    <p:extLst>
      <p:ext uri="{BB962C8B-B14F-4D97-AF65-F5344CB8AC3E}">
        <p14:creationId xmlns:p14="http://schemas.microsoft.com/office/powerpoint/2010/main" val="1168241678"/>
      </p:ext>
    </p:extLst>
  </p:cSld>
</p:sld>
</file>

<file path=ppt/slides/slide7.xml><?xml version="1.0" encoding="utf-8"?>
<p:sld xmlns:p="http://schemas.openxmlformats.org/presentationml/2006/main">
  <p:cSld>
    <p:bg>
      <p:bgPr>
        <a:solidFill xmlns:a="http://schemas.openxmlformats.org/drawingml/2006/main">
          <a:srgbClr val="08111B"/>
        </a:solidFill>
      </p:bgPr>
    </p:bg>
    <p:spTree>
      <p:nvGrpSpPr>
        <p:cNvPr id="1" name=""/>
        <p:cNvGrpSpPr/>
        <p:nvPr/>
      </p:nvGrpSpPr>
      <p:grpSpPr>
        <a:xfrm xmlns:a="http://schemas.openxmlformats.org/drawingml/2006/main"/>
      </p:grpSpPr>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2d6768d9896c458b"/>
          <a:srcRect xmlns:a="http://schemas.openxmlformats.org/drawingml/2006/main" l="18" t="0" r="18" b="0"/>
          <a:stretch xmlns:a="http://schemas.openxmlformats.org/drawingml/2006/main">
            <a:fillRect l="0" t="0" r="0" b="0"/>
          </a:stretch>
        </p:blipFill>
        <p:spPr>
          <a:xfrm xmlns:a="http://schemas.openxmlformats.org/drawingml/2006/main">
            <a:off x="0" y="0"/>
            <a:ext cx="10287000" cy="12858750"/>
          </a:xfrm>
          <a:prstGeom xmlns:a="http://schemas.openxmlformats.org/drawingml/2006/main" prst="rect">
            <a:avLst/>
          </a:prstGeom>
        </p:spPr>
      </p:pic>
      <p:sp>
        <p:nvSpPr>
          <p:cNvPr id="2" name="brand-accent">
            <a:extLst xmlns:a="http://schemas.openxmlformats.org/drawingml/2006/main">
              <a:ext uri="{FF2B5EF4-FFF2-40B4-BE49-F238E27FC236}">
                <a16:creationId xmlns:a16="http://schemas.microsoft.com/office/drawing/2014/main" id="{194D2B38-9020-4A14-B60D-57CAFE0AF9A2}"/>
              </a:ext>
            </a:extLst>
          </p:cNvPr>
          <p:cNvSpPr>
            <a:spLocks xmlns:a="http://schemas.openxmlformats.org/drawingml/2006/main" noGrp="1"/>
          </p:cNvSpPr>
          <p:nvPr/>
        </p:nvSpPr>
        <p:spPr>
          <a:xfrm xmlns:a="http://schemas.openxmlformats.org/drawingml/2006/main">
            <a:off x="762000" y="647700"/>
            <a:ext cx="38100" cy="20955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3" name="brand">
            <a:extLst xmlns:a="http://schemas.openxmlformats.org/drawingml/2006/main">
              <a:ext uri="{FF2B5EF4-FFF2-40B4-BE49-F238E27FC236}">
                <a16:creationId xmlns:a16="http://schemas.microsoft.com/office/drawing/2014/main" id="{2CB76A6A-C8A2-4938-9B5C-5B52518C2233}"/>
              </a:ext>
            </a:extLst>
          </p:cNvPr>
          <p:cNvSpPr>
            <a:spLocks xmlns:a="http://schemas.openxmlformats.org/drawingml/2006/main" noGrp="1"/>
          </p:cNvSpPr>
          <p:nvPr/>
        </p:nvSpPr>
        <p:spPr>
          <a:xfrm xmlns:a="http://schemas.openxmlformats.org/drawingml/2006/main">
            <a:off x="933450" y="638175"/>
            <a:ext cx="571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C5CFDB"/>
                </a:solidFill>
                <a:latin typeface="Helvetica Neue"/>
                <a:ea typeface="Helvetica Neue"/>
                <a:cs typeface="Helvetica Neue"/>
              </a:defRPr>
            </a:pPr>
            <a:r>
              <a:rPr sz="1350" b="1">
                <a:solidFill>
                  <a:srgbClr val="C5CFDB"/>
                </a:solidFill>
                <a:latin typeface="Helvetica Neue"/>
                <a:ea typeface="Helvetica Neue"/>
                <a:cs typeface="Helvetica Neue"/>
              </a:rPr>
              <a:t>HEAV3NS  /  AGENT FLIGHT TEST</a:t>
            </a:r>
          </a:p>
        </p:txBody>
      </p:sp>
      <p:sp>
        <p:nvSpPr>
          <p:cNvPr id="4" name="page-number">
            <a:extLst xmlns:a="http://schemas.openxmlformats.org/drawingml/2006/main">
              <a:ext uri="{FF2B5EF4-FFF2-40B4-BE49-F238E27FC236}">
                <a16:creationId xmlns:a16="http://schemas.microsoft.com/office/drawing/2014/main" id="{F5101B44-F258-4884-A1FE-A0082BB43567}"/>
              </a:ext>
            </a:extLst>
          </p:cNvPr>
          <p:cNvSpPr>
            <a:spLocks xmlns:a="http://schemas.openxmlformats.org/drawingml/2006/main" noGrp="1"/>
          </p:cNvSpPr>
          <p:nvPr/>
        </p:nvSpPr>
        <p:spPr>
          <a:xfrm xmlns:a="http://schemas.openxmlformats.org/drawingml/2006/main">
            <a:off x="8572500" y="12039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00000"/>
              </a:lnSpc>
              <a:buNone/>
              <a:defRPr sz="1350" b="0">
                <a:solidFill>
                  <a:srgbClr val="C5CFDB"/>
                </a:solidFill>
                <a:latin typeface="Helvetica Neue"/>
                <a:ea typeface="Helvetica Neue"/>
                <a:cs typeface="Helvetica Neue"/>
              </a:defRPr>
            </a:pPr>
            <a:r>
              <a:rPr sz="1350" b="0">
                <a:solidFill>
                  <a:srgbClr val="C5CFDB"/>
                </a:solidFill>
                <a:latin typeface="Helvetica Neue"/>
                <a:ea typeface="Helvetica Neue"/>
                <a:cs typeface="Helvetica Neue"/>
              </a:rPr>
              <a:t>06 / 07</a:t>
            </a:r>
          </a:p>
        </p:txBody>
      </p:sp>
      <p:sp>
        <p:nvSpPr>
          <p:cNvPr id="5" name="slide-title">
            <a:extLst xmlns:a="http://schemas.openxmlformats.org/drawingml/2006/main">
              <a:ext uri="{FF2B5EF4-FFF2-40B4-BE49-F238E27FC236}">
                <a16:creationId xmlns:a16="http://schemas.microsoft.com/office/drawing/2014/main" id="{A3B1B509-F67A-47F8-AB47-E355010346F0}"/>
              </a:ext>
            </a:extLst>
          </p:cNvPr>
          <p:cNvSpPr>
            <a:spLocks xmlns:a="http://schemas.openxmlformats.org/drawingml/2006/main" noGrp="1"/>
          </p:cNvSpPr>
          <p:nvPr/>
        </p:nvSpPr>
        <p:spPr>
          <a:xfrm xmlns:a="http://schemas.openxmlformats.org/drawingml/2006/main">
            <a:off x="762000" y="1476375"/>
            <a:ext cx="857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3900" b="1">
                <a:solidFill>
                  <a:srgbClr val="F5F7FA"/>
                </a:solidFill>
                <a:latin typeface="Helvetica Neue"/>
                <a:ea typeface="Helvetica Neue"/>
                <a:cs typeface="Helvetica Neue"/>
              </a:defRPr>
            </a:pPr>
            <a:r>
              <a:rPr sz="3900" b="1">
                <a:solidFill>
                  <a:srgbClr val="F5F7FA"/>
                </a:solidFill>
                <a:latin typeface="Helvetica Neue"/>
                <a:ea typeface="Helvetica Neue"/>
                <a:cs typeface="Helvetica Neue"/>
              </a:rPr>
              <a:t>How to rank execution systems</a:t>
            </a:r>
          </a:p>
        </p:txBody>
      </p:sp>
      <p:sp>
        <p:nvSpPr>
          <p:cNvPr id="6" name="slide-subtitle">
            <a:extLst xmlns:a="http://schemas.openxmlformats.org/drawingml/2006/main">
              <a:ext uri="{FF2B5EF4-FFF2-40B4-BE49-F238E27FC236}">
                <a16:creationId xmlns:a16="http://schemas.microsoft.com/office/drawing/2014/main" id="{7F52DED9-0DAF-455B-B523-C30F4593530A}"/>
              </a:ext>
            </a:extLst>
          </p:cNvPr>
          <p:cNvSpPr>
            <a:spLocks xmlns:a="http://schemas.openxmlformats.org/drawingml/2006/main" noGrp="1"/>
          </p:cNvSpPr>
          <p:nvPr/>
        </p:nvSpPr>
        <p:spPr>
          <a:xfrm xmlns:a="http://schemas.openxmlformats.org/drawingml/2006/main">
            <a:off x="781050" y="2238375"/>
            <a:ext cx="809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725" b="0">
                <a:solidFill>
                  <a:srgbClr val="C5CFDB"/>
                </a:solidFill>
                <a:latin typeface="Helvetica Neue"/>
                <a:ea typeface="Helvetica Neue"/>
                <a:cs typeface="Helvetica Neue"/>
              </a:defRPr>
            </a:pPr>
            <a:r>
              <a:rPr sz="1725" b="0">
                <a:solidFill>
                  <a:srgbClr val="C5CFDB"/>
                </a:solidFill>
                <a:latin typeface="Helvetica Neue"/>
                <a:ea typeface="Helvetica Neue"/>
                <a:cs typeface="Helvetica Neue"/>
              </a:rPr>
              <a:t>Matched model, task commit and host budget; unmatched models use separate cohorts</a:t>
            </a:r>
          </a:p>
        </p:txBody>
      </p:sp>
      <p:sp>
        <p:nvSpPr>
          <p:cNvPr id="7" name="scenario-accent-0">
            <a:extLst xmlns:a="http://schemas.openxmlformats.org/drawingml/2006/main">
              <a:ext uri="{FF2B5EF4-FFF2-40B4-BE49-F238E27FC236}">
                <a16:creationId xmlns:a16="http://schemas.microsoft.com/office/drawing/2014/main" id="{ABC42607-3B32-4F89-878E-F31EC9572A33}"/>
              </a:ext>
            </a:extLst>
          </p:cNvPr>
          <p:cNvSpPr>
            <a:spLocks xmlns:a="http://schemas.openxmlformats.org/drawingml/2006/main" noGrp="1"/>
          </p:cNvSpPr>
          <p:nvPr/>
        </p:nvSpPr>
        <p:spPr>
          <a:xfrm xmlns:a="http://schemas.openxmlformats.org/drawingml/2006/main">
            <a:off x="781050" y="31623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8" name="scenario-id-0">
            <a:extLst xmlns:a="http://schemas.openxmlformats.org/drawingml/2006/main">
              <a:ext uri="{FF2B5EF4-FFF2-40B4-BE49-F238E27FC236}">
                <a16:creationId xmlns:a16="http://schemas.microsoft.com/office/drawing/2014/main" id="{A4576631-FA83-434E-9FF2-6F3D7B443A87}"/>
              </a:ext>
            </a:extLst>
          </p:cNvPr>
          <p:cNvSpPr>
            <a:spLocks xmlns:a="http://schemas.openxmlformats.org/drawingml/2006/main" noGrp="1"/>
          </p:cNvSpPr>
          <p:nvPr/>
        </p:nvSpPr>
        <p:spPr>
          <a:xfrm xmlns:a="http://schemas.openxmlformats.org/drawingml/2006/main">
            <a:off x="1028700" y="31242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72 H</a:t>
            </a:r>
          </a:p>
        </p:txBody>
      </p:sp>
      <p:sp>
        <p:nvSpPr>
          <p:cNvPr id="9" name="scenario-label-0">
            <a:extLst xmlns:a="http://schemas.openxmlformats.org/drawingml/2006/main">
              <a:ext uri="{FF2B5EF4-FFF2-40B4-BE49-F238E27FC236}">
                <a16:creationId xmlns:a16="http://schemas.microsoft.com/office/drawing/2014/main" id="{B3858961-A397-4006-A57B-C6D9CEFB01FA}"/>
              </a:ext>
            </a:extLst>
          </p:cNvPr>
          <p:cNvSpPr>
            <a:spLocks xmlns:a="http://schemas.openxmlformats.org/drawingml/2006/main" noGrp="1"/>
          </p:cNvSpPr>
          <p:nvPr/>
        </p:nvSpPr>
        <p:spPr>
          <a:xfrm xmlns:a="http://schemas.openxmlformats.org/drawingml/2006/main">
            <a:off x="2000250" y="31146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LONG-RUN CONTINUITY</a:t>
            </a:r>
          </a:p>
        </p:txBody>
      </p:sp>
      <p:sp>
        <p:nvSpPr>
          <p:cNvPr id="10" name="scenario-detail-0">
            <a:extLst xmlns:a="http://schemas.openxmlformats.org/drawingml/2006/main">
              <a:ext uri="{FF2B5EF4-FFF2-40B4-BE49-F238E27FC236}">
                <a16:creationId xmlns:a16="http://schemas.microsoft.com/office/drawing/2014/main" id="{575589AA-A197-461A-891A-C68C96FCFA51}"/>
              </a:ext>
            </a:extLst>
          </p:cNvPr>
          <p:cNvSpPr>
            <a:spLocks xmlns:a="http://schemas.openxmlformats.org/drawingml/2006/main" noGrp="1"/>
          </p:cNvSpPr>
          <p:nvPr/>
        </p:nvSpPr>
        <p:spPr>
          <a:xfrm xmlns:a="http://schemas.openxmlformats.org/drawingml/2006/main">
            <a:off x="2000250" y="35052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Keep one project repo across three sessions; restart, inject a failure, cancel, resume and verify state.</a:t>
            </a:r>
          </a:p>
        </p:txBody>
      </p:sp>
      <p:sp>
        <p:nvSpPr>
          <p:cNvPr id="11" name="scenario-rule-0">
            <a:extLst xmlns:a="http://schemas.openxmlformats.org/drawingml/2006/main">
              <a:ext uri="{FF2B5EF4-FFF2-40B4-BE49-F238E27FC236}">
                <a16:creationId xmlns:a16="http://schemas.microsoft.com/office/drawing/2014/main" id="{1C7DFB6B-149E-4989-9563-B9C3DA2A629F}"/>
              </a:ext>
            </a:extLst>
          </p:cNvPr>
          <p:cNvSpPr>
            <a:spLocks xmlns:a="http://schemas.openxmlformats.org/drawingml/2006/main" noGrp="1"/>
          </p:cNvSpPr>
          <p:nvPr/>
        </p:nvSpPr>
        <p:spPr>
          <a:xfrm xmlns:a="http://schemas.openxmlformats.org/drawingml/2006/main">
            <a:off x="762000" y="42291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12" name="scenario-accent-1">
            <a:extLst xmlns:a="http://schemas.openxmlformats.org/drawingml/2006/main">
              <a:ext uri="{FF2B5EF4-FFF2-40B4-BE49-F238E27FC236}">
                <a16:creationId xmlns:a16="http://schemas.microsoft.com/office/drawing/2014/main" id="{EC91D26A-99B0-4BB2-A8A7-E3AEB37432EB}"/>
              </a:ext>
            </a:extLst>
          </p:cNvPr>
          <p:cNvSpPr>
            <a:spLocks xmlns:a="http://schemas.openxmlformats.org/drawingml/2006/main" noGrp="1"/>
          </p:cNvSpPr>
          <p:nvPr/>
        </p:nvSpPr>
        <p:spPr>
          <a:xfrm xmlns:a="http://schemas.openxmlformats.org/drawingml/2006/main">
            <a:off x="781050" y="45339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13" name="scenario-id-1">
            <a:extLst xmlns:a="http://schemas.openxmlformats.org/drawingml/2006/main">
              <a:ext uri="{FF2B5EF4-FFF2-40B4-BE49-F238E27FC236}">
                <a16:creationId xmlns:a16="http://schemas.microsoft.com/office/drawing/2014/main" id="{B1D43E6D-73A7-4186-A9CC-20235CA1B0F7}"/>
              </a:ext>
            </a:extLst>
          </p:cNvPr>
          <p:cNvSpPr>
            <a:spLocks xmlns:a="http://schemas.openxmlformats.org/drawingml/2006/main" noGrp="1"/>
          </p:cNvSpPr>
          <p:nvPr/>
        </p:nvSpPr>
        <p:spPr>
          <a:xfrm xmlns:a="http://schemas.openxmlformats.org/drawingml/2006/main">
            <a:off x="1028700" y="44958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PASS</a:t>
            </a:r>
          </a:p>
        </p:txBody>
      </p:sp>
      <p:sp>
        <p:nvSpPr>
          <p:cNvPr id="14" name="scenario-label-1">
            <a:extLst xmlns:a="http://schemas.openxmlformats.org/drawingml/2006/main">
              <a:ext uri="{FF2B5EF4-FFF2-40B4-BE49-F238E27FC236}">
                <a16:creationId xmlns:a16="http://schemas.microsoft.com/office/drawing/2014/main" id="{3D93AB21-5B65-4DE4-A032-261757CF9742}"/>
              </a:ext>
            </a:extLst>
          </p:cNvPr>
          <p:cNvSpPr>
            <a:spLocks xmlns:a="http://schemas.openxmlformats.org/drawingml/2006/main" noGrp="1"/>
          </p:cNvSpPr>
          <p:nvPr/>
        </p:nvSpPr>
        <p:spPr>
          <a:xfrm xmlns:a="http://schemas.openxmlformats.org/drawingml/2006/main">
            <a:off x="2000250" y="44862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VERIFIED COMPLETION</a:t>
            </a:r>
          </a:p>
        </p:txBody>
      </p:sp>
      <p:sp>
        <p:nvSpPr>
          <p:cNvPr id="15" name="scenario-detail-1">
            <a:extLst xmlns:a="http://schemas.openxmlformats.org/drawingml/2006/main">
              <a:ext uri="{FF2B5EF4-FFF2-40B4-BE49-F238E27FC236}">
                <a16:creationId xmlns:a16="http://schemas.microsoft.com/office/drawing/2014/main" id="{63295A0A-2F3B-4FC0-9FE4-DA149F31F0E5}"/>
              </a:ext>
            </a:extLst>
          </p:cNvPr>
          <p:cNvSpPr>
            <a:spLocks xmlns:a="http://schemas.openxmlformats.org/drawingml/2006/main" noGrp="1"/>
          </p:cNvSpPr>
          <p:nvPr/>
        </p:nvSpPr>
        <p:spPr>
          <a:xfrm xmlns:a="http://schemas.openxmlformats.org/drawingml/2006/main">
            <a:off x="2000250" y="48768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Count independent verifier passes over all attempts; include failures, cancellations and timeouts.</a:t>
            </a:r>
          </a:p>
        </p:txBody>
      </p:sp>
      <p:sp>
        <p:nvSpPr>
          <p:cNvPr id="16" name="scenario-rule-1">
            <a:extLst xmlns:a="http://schemas.openxmlformats.org/drawingml/2006/main">
              <a:ext uri="{FF2B5EF4-FFF2-40B4-BE49-F238E27FC236}">
                <a16:creationId xmlns:a16="http://schemas.microsoft.com/office/drawing/2014/main" id="{A0F10D19-F500-4EBE-AF2B-7C758C2F77EE}"/>
              </a:ext>
            </a:extLst>
          </p:cNvPr>
          <p:cNvSpPr>
            <a:spLocks xmlns:a="http://schemas.openxmlformats.org/drawingml/2006/main" noGrp="1"/>
          </p:cNvSpPr>
          <p:nvPr/>
        </p:nvSpPr>
        <p:spPr>
          <a:xfrm xmlns:a="http://schemas.openxmlformats.org/drawingml/2006/main">
            <a:off x="762000" y="56007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17" name="scenario-accent-2">
            <a:extLst xmlns:a="http://schemas.openxmlformats.org/drawingml/2006/main">
              <a:ext uri="{FF2B5EF4-FFF2-40B4-BE49-F238E27FC236}">
                <a16:creationId xmlns:a16="http://schemas.microsoft.com/office/drawing/2014/main" id="{267A77C5-220C-43FB-ABCD-A9BEED67AF22}"/>
              </a:ext>
            </a:extLst>
          </p:cNvPr>
          <p:cNvSpPr>
            <a:spLocks xmlns:a="http://schemas.openxmlformats.org/drawingml/2006/main" noGrp="1"/>
          </p:cNvSpPr>
          <p:nvPr/>
        </p:nvSpPr>
        <p:spPr>
          <a:xfrm xmlns:a="http://schemas.openxmlformats.org/drawingml/2006/main">
            <a:off x="781050" y="59055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18" name="scenario-id-2">
            <a:extLst xmlns:a="http://schemas.openxmlformats.org/drawingml/2006/main">
              <a:ext uri="{FF2B5EF4-FFF2-40B4-BE49-F238E27FC236}">
                <a16:creationId xmlns:a16="http://schemas.microsoft.com/office/drawing/2014/main" id="{446340AD-BCD4-4592-9BC1-909A29630997}"/>
              </a:ext>
            </a:extLst>
          </p:cNvPr>
          <p:cNvSpPr>
            <a:spLocks xmlns:a="http://schemas.openxmlformats.org/drawingml/2006/main" noGrp="1"/>
          </p:cNvSpPr>
          <p:nvPr/>
        </p:nvSpPr>
        <p:spPr>
          <a:xfrm xmlns:a="http://schemas.openxmlformats.org/drawingml/2006/main">
            <a:off x="1028700" y="58674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P50</a:t>
            </a:r>
          </a:p>
        </p:txBody>
      </p:sp>
      <p:sp>
        <p:nvSpPr>
          <p:cNvPr id="19" name="scenario-label-2">
            <a:extLst xmlns:a="http://schemas.openxmlformats.org/drawingml/2006/main">
              <a:ext uri="{FF2B5EF4-FFF2-40B4-BE49-F238E27FC236}">
                <a16:creationId xmlns:a16="http://schemas.microsoft.com/office/drawing/2014/main" id="{451FC828-E6E2-440C-9DDD-54F05D7A83D6}"/>
              </a:ext>
            </a:extLst>
          </p:cNvPr>
          <p:cNvSpPr>
            <a:spLocks xmlns:a="http://schemas.openxmlformats.org/drawingml/2006/main" noGrp="1"/>
          </p:cNvSpPr>
          <p:nvPr/>
        </p:nvSpPr>
        <p:spPr>
          <a:xfrm xmlns:a="http://schemas.openxmlformats.org/drawingml/2006/main">
            <a:off x="2000250" y="58578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EXECUTION SPEED</a:t>
            </a:r>
          </a:p>
        </p:txBody>
      </p:sp>
      <p:sp>
        <p:nvSpPr>
          <p:cNvPr id="20" name="scenario-detail-2">
            <a:extLst xmlns:a="http://schemas.openxmlformats.org/drawingml/2006/main">
              <a:ext uri="{FF2B5EF4-FFF2-40B4-BE49-F238E27FC236}">
                <a16:creationId xmlns:a16="http://schemas.microsoft.com/office/drawing/2014/main" id="{38CB7547-5CA7-4CCF-BB3E-354F26D51491}"/>
              </a:ext>
            </a:extLst>
          </p:cNvPr>
          <p:cNvSpPr>
            <a:spLocks xmlns:a="http://schemas.openxmlformats.org/drawingml/2006/main" noGrp="1"/>
          </p:cNvSpPr>
          <p:nvPr/>
        </p:nvSpPr>
        <p:spPr>
          <a:xfrm xmlns:a="http://schemas.openxmlformats.org/drawingml/2006/main">
            <a:off x="2000250" y="62484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Clock prompt to verifier pass; publish p50/p90 and split model wait from tool/run overhead.</a:t>
            </a:r>
          </a:p>
        </p:txBody>
      </p:sp>
      <p:sp>
        <p:nvSpPr>
          <p:cNvPr id="21" name="scenario-rule-2">
            <a:extLst xmlns:a="http://schemas.openxmlformats.org/drawingml/2006/main">
              <a:ext uri="{FF2B5EF4-FFF2-40B4-BE49-F238E27FC236}">
                <a16:creationId xmlns:a16="http://schemas.microsoft.com/office/drawing/2014/main" id="{5134E055-B61F-4F42-8E6F-373601EDB6BD}"/>
              </a:ext>
            </a:extLst>
          </p:cNvPr>
          <p:cNvSpPr>
            <a:spLocks xmlns:a="http://schemas.openxmlformats.org/drawingml/2006/main" noGrp="1"/>
          </p:cNvSpPr>
          <p:nvPr/>
        </p:nvSpPr>
        <p:spPr>
          <a:xfrm xmlns:a="http://schemas.openxmlformats.org/drawingml/2006/main">
            <a:off x="762000" y="69723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22" name="scenario-accent-3">
            <a:extLst xmlns:a="http://schemas.openxmlformats.org/drawingml/2006/main">
              <a:ext uri="{FF2B5EF4-FFF2-40B4-BE49-F238E27FC236}">
                <a16:creationId xmlns:a16="http://schemas.microsoft.com/office/drawing/2014/main" id="{D0AC0345-DDEA-4674-98D6-E573B46851C8}"/>
              </a:ext>
            </a:extLst>
          </p:cNvPr>
          <p:cNvSpPr>
            <a:spLocks xmlns:a="http://schemas.openxmlformats.org/drawingml/2006/main" noGrp="1"/>
          </p:cNvSpPr>
          <p:nvPr/>
        </p:nvSpPr>
        <p:spPr>
          <a:xfrm xmlns:a="http://schemas.openxmlformats.org/drawingml/2006/main">
            <a:off x="781050" y="7277100"/>
            <a:ext cx="47625" cy="800100"/>
          </a:xfrm>
          <a:prstGeom xmlns:a="http://schemas.openxmlformats.org/drawingml/2006/main" prst="rect">
            <a:avLst/>
          </a:prstGeom>
          <a:solidFill xmlns:a="http://schemas.openxmlformats.org/drawingml/2006/main">
            <a:srgbClr val="F25262"/>
          </a:solidFill>
          <a:ln xmlns:a="http://schemas.openxmlformats.org/drawingml/2006/main" w="0">
            <a:noFill/>
          </a:ln>
        </p:spPr>
      </p:sp>
      <p:sp>
        <p:nvSpPr>
          <p:cNvPr id="23" name="scenario-id-3">
            <a:extLst xmlns:a="http://schemas.openxmlformats.org/drawingml/2006/main">
              <a:ext uri="{FF2B5EF4-FFF2-40B4-BE49-F238E27FC236}">
                <a16:creationId xmlns:a16="http://schemas.microsoft.com/office/drawing/2014/main" id="{965C90DC-7E36-4391-96AD-2FB72BFEA976}"/>
              </a:ext>
            </a:extLst>
          </p:cNvPr>
          <p:cNvSpPr>
            <a:spLocks xmlns:a="http://schemas.openxmlformats.org/drawingml/2006/main" noGrp="1"/>
          </p:cNvSpPr>
          <p:nvPr/>
        </p:nvSpPr>
        <p:spPr>
          <a:xfrm xmlns:a="http://schemas.openxmlformats.org/drawingml/2006/main">
            <a:off x="1028700" y="72390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SAFE</a:t>
            </a:r>
          </a:p>
        </p:txBody>
      </p:sp>
      <p:sp>
        <p:nvSpPr>
          <p:cNvPr id="24" name="scenario-label-3">
            <a:extLst xmlns:a="http://schemas.openxmlformats.org/drawingml/2006/main">
              <a:ext uri="{FF2B5EF4-FFF2-40B4-BE49-F238E27FC236}">
                <a16:creationId xmlns:a16="http://schemas.microsoft.com/office/drawing/2014/main" id="{33EE1601-B6A6-47A2-8591-2C22F45C352B}"/>
              </a:ext>
            </a:extLst>
          </p:cNvPr>
          <p:cNvSpPr>
            <a:spLocks xmlns:a="http://schemas.openxmlformats.org/drawingml/2006/main" noGrp="1"/>
          </p:cNvSpPr>
          <p:nvPr/>
        </p:nvSpPr>
        <p:spPr>
          <a:xfrm xmlns:a="http://schemas.openxmlformats.org/drawingml/2006/main">
            <a:off x="2000250" y="72294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TRUST GATE</a:t>
            </a:r>
          </a:p>
        </p:txBody>
      </p:sp>
      <p:sp>
        <p:nvSpPr>
          <p:cNvPr id="25" name="scenario-detail-3">
            <a:extLst xmlns:a="http://schemas.openxmlformats.org/drawingml/2006/main">
              <a:ext uri="{FF2B5EF4-FFF2-40B4-BE49-F238E27FC236}">
                <a16:creationId xmlns:a16="http://schemas.microsoft.com/office/drawing/2014/main" id="{7ED6F529-01CC-475D-B4E7-473CAF3B91EF}"/>
              </a:ext>
            </a:extLst>
          </p:cNvPr>
          <p:cNvSpPr>
            <a:spLocks xmlns:a="http://schemas.openxmlformats.org/drawingml/2006/main" noGrp="1"/>
          </p:cNvSpPr>
          <p:nvPr/>
        </p:nvSpPr>
        <p:spPr>
          <a:xfrm xmlns:a="http://schemas.openxmlformats.org/drawingml/2006/main">
            <a:off x="2000250" y="76200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Check allowed writes, cancellation, state recovery, traces and claims against tests/logs.</a:t>
            </a:r>
          </a:p>
        </p:txBody>
      </p:sp>
      <p:sp>
        <p:nvSpPr>
          <p:cNvPr id="26" name="scenario-rule-3">
            <a:extLst xmlns:a="http://schemas.openxmlformats.org/drawingml/2006/main">
              <a:ext uri="{FF2B5EF4-FFF2-40B4-BE49-F238E27FC236}">
                <a16:creationId xmlns:a16="http://schemas.microsoft.com/office/drawing/2014/main" id="{D227192C-DD6B-48DD-BE03-6B7C87E69DA3}"/>
              </a:ext>
            </a:extLst>
          </p:cNvPr>
          <p:cNvSpPr>
            <a:spLocks xmlns:a="http://schemas.openxmlformats.org/drawingml/2006/main" noGrp="1"/>
          </p:cNvSpPr>
          <p:nvPr/>
        </p:nvSpPr>
        <p:spPr>
          <a:xfrm xmlns:a="http://schemas.openxmlformats.org/drawingml/2006/main">
            <a:off x="762000" y="8343900"/>
            <a:ext cx="8096250" cy="14288"/>
          </a:xfrm>
          <a:prstGeom xmlns:a="http://schemas.openxmlformats.org/drawingml/2006/main" prst="rect">
            <a:avLst/>
          </a:prstGeom>
          <a:solidFill xmlns:a="http://schemas.openxmlformats.org/drawingml/2006/main">
            <a:srgbClr val="425266"/>
          </a:solidFill>
          <a:ln xmlns:a="http://schemas.openxmlformats.org/drawingml/2006/main" w="0">
            <a:noFill/>
          </a:ln>
        </p:spPr>
      </p:sp>
      <p:sp>
        <p:nvSpPr>
          <p:cNvPr id="27" name="scenario-accent-4">
            <a:extLst xmlns:a="http://schemas.openxmlformats.org/drawingml/2006/main">
              <a:ext uri="{FF2B5EF4-FFF2-40B4-BE49-F238E27FC236}">
                <a16:creationId xmlns:a16="http://schemas.microsoft.com/office/drawing/2014/main" id="{6C9050DC-7E4A-4C65-8BF8-04FA75316F19}"/>
              </a:ext>
            </a:extLst>
          </p:cNvPr>
          <p:cNvSpPr>
            <a:spLocks xmlns:a="http://schemas.openxmlformats.org/drawingml/2006/main" noGrp="1"/>
          </p:cNvSpPr>
          <p:nvPr/>
        </p:nvSpPr>
        <p:spPr>
          <a:xfrm xmlns:a="http://schemas.openxmlformats.org/drawingml/2006/main">
            <a:off x="781050" y="8648700"/>
            <a:ext cx="47625" cy="800100"/>
          </a:xfrm>
          <a:prstGeom xmlns:a="http://schemas.openxmlformats.org/drawingml/2006/main" prst="rect">
            <a:avLst/>
          </a:prstGeom>
          <a:solidFill xmlns:a="http://schemas.openxmlformats.org/drawingml/2006/main">
            <a:srgbClr val="79DCEB"/>
          </a:solidFill>
          <a:ln xmlns:a="http://schemas.openxmlformats.org/drawingml/2006/main" w="0">
            <a:noFill/>
          </a:ln>
        </p:spPr>
      </p:sp>
      <p:sp>
        <p:nvSpPr>
          <p:cNvPr id="28" name="scenario-id-4">
            <a:extLst xmlns:a="http://schemas.openxmlformats.org/drawingml/2006/main">
              <a:ext uri="{FF2B5EF4-FFF2-40B4-BE49-F238E27FC236}">
                <a16:creationId xmlns:a16="http://schemas.microsoft.com/office/drawing/2014/main" id="{7454F320-EF77-4C18-89AD-BF32604EB14F}"/>
              </a:ext>
            </a:extLst>
          </p:cNvPr>
          <p:cNvSpPr>
            <a:spLocks xmlns:a="http://schemas.openxmlformats.org/drawingml/2006/main" noGrp="1"/>
          </p:cNvSpPr>
          <p:nvPr/>
        </p:nvSpPr>
        <p:spPr>
          <a:xfrm xmlns:a="http://schemas.openxmlformats.org/drawingml/2006/main">
            <a:off x="1028700" y="8610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350" b="1">
                <a:solidFill>
                  <a:srgbClr val="79DCEB"/>
                </a:solidFill>
                <a:latin typeface="Helvetica Neue"/>
                <a:ea typeface="Helvetica Neue"/>
                <a:cs typeface="Helvetica Neue"/>
              </a:defRPr>
            </a:pPr>
            <a:r>
              <a:rPr sz="1350" b="1">
                <a:solidFill>
                  <a:srgbClr val="79DCEB"/>
                </a:solidFill>
                <a:latin typeface="Helvetica Neue"/>
                <a:ea typeface="Helvetica Neue"/>
                <a:cs typeface="Helvetica Neue"/>
              </a:rPr>
              <a:t>RANK</a:t>
            </a:r>
          </a:p>
        </p:txBody>
      </p:sp>
      <p:sp>
        <p:nvSpPr>
          <p:cNvPr id="29" name="scenario-label-4">
            <a:extLst xmlns:a="http://schemas.openxmlformats.org/drawingml/2006/main">
              <a:ext uri="{FF2B5EF4-FFF2-40B4-BE49-F238E27FC236}">
                <a16:creationId xmlns:a16="http://schemas.microsoft.com/office/drawing/2014/main" id="{6D2BC4E9-3BFE-4C27-BDB2-0FC29FCA064F}"/>
              </a:ext>
            </a:extLst>
          </p:cNvPr>
          <p:cNvSpPr>
            <a:spLocks xmlns:a="http://schemas.openxmlformats.org/drawingml/2006/main" noGrp="1"/>
          </p:cNvSpPr>
          <p:nvPr/>
        </p:nvSpPr>
        <p:spPr>
          <a:xfrm xmlns:a="http://schemas.openxmlformats.org/drawingml/2006/main">
            <a:off x="2000250" y="8601075"/>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800" b="1">
                <a:solidFill>
                  <a:srgbClr val="F5F7FA"/>
                </a:solidFill>
                <a:latin typeface="Helvetica Neue"/>
                <a:ea typeface="Helvetica Neue"/>
                <a:cs typeface="Helvetica Neue"/>
              </a:defRPr>
            </a:pPr>
            <a:r>
              <a:rPr sz="1800" b="1">
                <a:solidFill>
                  <a:srgbClr val="F5F7FA"/>
                </a:solidFill>
                <a:latin typeface="Helvetica Neue"/>
                <a:ea typeface="Helvetica Neue"/>
                <a:cs typeface="Helvetica Neue"/>
              </a:rPr>
              <a:t>PROJECT LEADERBOARD</a:t>
            </a:r>
          </a:p>
        </p:txBody>
      </p:sp>
      <p:sp>
        <p:nvSpPr>
          <p:cNvPr id="30" name="scenario-detail-4">
            <a:extLst xmlns:a="http://schemas.openxmlformats.org/drawingml/2006/main">
              <a:ext uri="{FF2B5EF4-FFF2-40B4-BE49-F238E27FC236}">
                <a16:creationId xmlns:a16="http://schemas.microsoft.com/office/drawing/2014/main" id="{3A0C4A91-A723-4C40-928A-117771035210}"/>
              </a:ext>
            </a:extLst>
          </p:cNvPr>
          <p:cNvSpPr>
            <a:spLocks xmlns:a="http://schemas.openxmlformats.org/drawingml/2006/main" noGrp="1"/>
          </p:cNvSpPr>
          <p:nvPr/>
        </p:nvSpPr>
        <p:spPr>
          <a:xfrm xmlns:a="http://schemas.openxmlformats.org/drawingml/2006/main">
            <a:off x="2000250" y="8991600"/>
            <a:ext cx="7334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650" b="0">
                <a:solidFill>
                  <a:srgbClr val="C5CFDB"/>
                </a:solidFill>
                <a:latin typeface="Helvetica Neue"/>
                <a:ea typeface="Helvetica Neue"/>
                <a:cs typeface="Helvetica Neue"/>
              </a:defRPr>
            </a:pPr>
            <a:r>
              <a:rPr sz="1650" b="0">
                <a:solidFill>
                  <a:srgbClr val="C5CFDB"/>
                </a:solidFill>
                <a:latin typeface="Helvetica Neue"/>
                <a:ea typeface="Helvetica Neue"/>
                <a:cs typeface="Helvetica Neue"/>
              </a:rPr>
              <a:t>Separate game/web/knowledge boards; rank completion and speed separately; no model-quality rank.</a:t>
            </a:r>
          </a:p>
        </p:txBody>
      </p:sp>
      <p:sp>
        <p:nvSpPr>
          <p:cNvPr id="31" name="scenario-footnote">
            <a:extLst xmlns:a="http://schemas.openxmlformats.org/drawingml/2006/main">
              <a:ext uri="{FF2B5EF4-FFF2-40B4-BE49-F238E27FC236}">
                <a16:creationId xmlns:a16="http://schemas.microsoft.com/office/drawing/2014/main" id="{51AAF585-B92B-42CD-8A80-842828145275}"/>
              </a:ext>
            </a:extLst>
          </p:cNvPr>
          <p:cNvSpPr>
            <a:spLocks xmlns:a="http://schemas.openxmlformats.org/drawingml/2006/main" noGrp="1"/>
          </p:cNvSpPr>
          <p:nvPr/>
        </p:nvSpPr>
        <p:spPr>
          <a:xfrm xmlns:a="http://schemas.openxmlformats.org/drawingml/2006/main">
            <a:off x="781050" y="10334625"/>
            <a:ext cx="762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0000"/>
              </a:lnSpc>
              <a:buNone/>
              <a:defRPr sz="1575" b="1">
                <a:solidFill>
                  <a:srgbClr val="99A8B9"/>
                </a:solidFill>
                <a:latin typeface="Helvetica Neue"/>
                <a:ea typeface="Helvetica Neue"/>
                <a:cs typeface="Helvetica Neue"/>
              </a:defRPr>
            </a:pPr>
            <a:r>
              <a:rPr sz="1575" b="1">
                <a:solidFill>
                  <a:srgbClr val="99A8B9"/>
                </a:solidFill>
                <a:latin typeface="Helvetica Neue"/>
                <a:ea typeface="Helvetica Neue"/>
                <a:cs typeface="Helvetica Neue"/>
              </a:rPr>
              <a:t>30 paired trials per task · 3 long-run repeats per project · publish all failures.</a:t>
            </a:r>
          </a:p>
        </p:txBody>
      </p:sp>
    </p:spTree>
    <p:extLst>
      <p:ext uri="{BB962C8B-B14F-4D97-AF65-F5344CB8AC3E}">
        <p14:creationId xmlns:p14="http://schemas.microsoft.com/office/powerpoint/2010/main" val="116824167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7</ap:Slides>
  <ap:Notes>7</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2026-09-22T19:55:56.0030000Z</dcterms:created>
  <dcterms:modified xsi:type="dcterms:W3CDTF">2026-09-22T19:55:56.0030000Z</dcterms:modified>
</coreProperties>
</file>